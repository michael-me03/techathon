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3" r:id="rId3"/>
    <p:sldId id="268" r:id="rId4"/>
    <p:sldId id="269" r:id="rId5"/>
    <p:sldId id="262" r:id="rId6"/>
    <p:sldId id="274" r:id="rId7"/>
    <p:sldId id="275" r:id="rId8"/>
    <p:sldId id="276" r:id="rId9"/>
    <p:sldId id="277" r:id="rId10"/>
    <p:sldId id="270" r:id="rId11"/>
    <p:sldId id="278" r:id="rId12"/>
    <p:sldId id="271" r:id="rId13"/>
    <p:sldId id="272" r:id="rId14"/>
    <p:sldId id="280" r:id="rId15"/>
    <p:sldId id="282" r:id="rId16"/>
    <p:sldId id="266" r:id="rId17"/>
    <p:sldId id="28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65" dt="2026-10-01T19:04:15.503"/>
    <p1510:client id="{3FF563FB-DC69-4104-9878-680B75972B04}" v="30" dt="2026-10-01T18:52:03.794"/>
    <p1510:client id="{67B52451-0E64-904B-910C-3421506BE80B}" v="4" dt="2026-10-01T18:50:36.3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ndari, Shruti (Stud SRH-University)" userId="22359d63-2993-4d47-a873-4a914dea43e7" providerId="ADAL" clId="{37EB1D44-3FEF-53C6-BC5E-B7D812DA3995}"/>
    <pc:docChg chg="modSld">
      <pc:chgData name="Bhandari, Shruti (Stud SRH-University)" userId="22359d63-2993-4d47-a873-4a914dea43e7" providerId="ADAL" clId="{37EB1D44-3FEF-53C6-BC5E-B7D812DA3995}" dt="2026-10-01T18:50:36.314" v="3" actId="1076"/>
      <pc:docMkLst>
        <pc:docMk/>
      </pc:docMkLst>
      <pc:sldChg chg="modSp mod">
        <pc:chgData name="Bhandari, Shruti (Stud SRH-University)" userId="22359d63-2993-4d47-a873-4a914dea43e7" providerId="ADAL" clId="{37EB1D44-3FEF-53C6-BC5E-B7D812DA3995}" dt="2026-10-01T18:50:36.314" v="3" actId="1076"/>
        <pc:sldMkLst>
          <pc:docMk/>
          <pc:sldMk cId="0" sldId="256"/>
        </pc:sldMkLst>
        <pc:spChg chg="mod">
          <ac:chgData name="Bhandari, Shruti (Stud SRH-University)" userId="22359d63-2993-4d47-a873-4a914dea43e7" providerId="ADAL" clId="{37EB1D44-3FEF-53C6-BC5E-B7D812DA3995}" dt="2026-10-01T18:50:19.875" v="1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Bhandari, Shruti (Stud SRH-University)" userId="22359d63-2993-4d47-a873-4a914dea43e7" providerId="ADAL" clId="{37EB1D44-3FEF-53C6-BC5E-B7D812DA3995}" dt="2026-10-01T18:50:30.275" v="2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Bhandari, Shruti (Stud SRH-University)" userId="22359d63-2993-4d47-a873-4a914dea43e7" providerId="ADAL" clId="{37EB1D44-3FEF-53C6-BC5E-B7D812DA3995}" dt="2026-10-01T18:50:36.314" v="3" actId="1076"/>
          <ac:spMkLst>
            <pc:docMk/>
            <pc:sldMk cId="0" sldId="256"/>
            <ac:spMk id="10" creationId="{00000000-0000-0000-0000-000000000000}"/>
          </ac:spMkLst>
        </pc:spChg>
      </pc:sldChg>
      <pc:sldChg chg="addSp mod">
        <pc:chgData name="Bhandari, Shruti (Stud SRH-University)" userId="22359d63-2993-4d47-a873-4a914dea43e7" providerId="ADAL" clId="{37EB1D44-3FEF-53C6-BC5E-B7D812DA3995}" dt="2026-10-01T18:48:08.504" v="0" actId="22"/>
        <pc:sldMkLst>
          <pc:docMk/>
          <pc:sldMk cId="0" sldId="267"/>
        </pc:sldMkLst>
        <pc:spChg chg="add">
          <ac:chgData name="Bhandari, Shruti (Stud SRH-University)" userId="22359d63-2993-4d47-a873-4a914dea43e7" providerId="ADAL" clId="{37EB1D44-3FEF-53C6-BC5E-B7D812DA3995}" dt="2026-10-01T18:48:08.504" v="0" actId="22"/>
          <ac:spMkLst>
            <pc:docMk/>
            <pc:sldMk cId="0" sldId="267"/>
            <ac:spMk id="9" creationId="{31864E1E-ECFE-8C8C-16D5-2D272F7DD737}"/>
          </ac:spMkLst>
        </pc:spChg>
      </pc:sldChg>
    </pc:docChg>
  </pc:docChgLst>
  <pc:docChgLst>
    <pc:chgData name="Manjrekar, Sakshi (Stud SRH-University)" userId="S::100006842@stud.srh-university.de::83f3bbd1-f5fe-4c83-a9da-18a77183c45d" providerId="AD" clId="Web-{00000000-0000-0000-0000-000000000000}"/>
    <pc:docChg chg="modSld">
      <pc:chgData name="Manjrekar, Sakshi (Stud SRH-University)" userId="S::100006842@stud.srh-university.de::83f3bbd1-f5fe-4c83-a9da-18a77183c45d" providerId="AD" clId="Web-{00000000-0000-0000-0000-000000000000}" dt="2026-10-01T19:04:15.503" v="63"/>
      <pc:docMkLst>
        <pc:docMk/>
      </pc:docMkLst>
      <pc:sldChg chg="addSp delSp modSp">
        <pc:chgData name="Manjrekar, Sakshi (Stud SRH-University)" userId="S::100006842@stud.srh-university.de::83f3bbd1-f5fe-4c83-a9da-18a77183c45d" providerId="AD" clId="Web-{00000000-0000-0000-0000-000000000000}" dt="2026-10-01T19:03:00.018" v="58" actId="1076"/>
        <pc:sldMkLst>
          <pc:docMk/>
          <pc:sldMk cId="0" sldId="256"/>
        </pc:sldMkLst>
        <pc:spChg chg="add mod">
          <ac:chgData name="Manjrekar, Sakshi (Stud SRH-University)" userId="S::100006842@stud.srh-university.de::83f3bbd1-f5fe-4c83-a9da-18a77183c45d" providerId="AD" clId="Web-{00000000-0000-0000-0000-000000000000}" dt="2026-10-01T18:58:53.529" v="23" actId="1076"/>
          <ac:spMkLst>
            <pc:docMk/>
            <pc:sldMk cId="0" sldId="256"/>
            <ac:spMk id="2" creationId="{85426B12-056E-1C8C-F398-F16D80AE6DD4}"/>
          </ac:spMkLst>
        </pc:spChg>
        <pc:spChg chg="add mod">
          <ac:chgData name="Manjrekar, Sakshi (Stud SRH-University)" userId="S::100006842@stud.srh-university.de::83f3bbd1-f5fe-4c83-a9da-18a77183c45d" providerId="AD" clId="Web-{00000000-0000-0000-0000-000000000000}" dt="2026-10-01T18:59:21.748" v="25" actId="1076"/>
          <ac:spMkLst>
            <pc:docMk/>
            <pc:sldMk cId="0" sldId="256"/>
            <ac:spMk id="3" creationId="{43C36EBB-2689-F896-B61C-365AB0247F67}"/>
          </ac:spMkLst>
        </pc:spChg>
        <pc:spChg chg="add del">
          <ac:chgData name="Manjrekar, Sakshi (Stud SRH-University)" userId="S::100006842@stud.srh-university.de::83f3bbd1-f5fe-4c83-a9da-18a77183c45d" providerId="AD" clId="Web-{00000000-0000-0000-0000-000000000000}" dt="2026-10-01T18:56:13.852" v="10"/>
          <ac:spMkLst>
            <pc:docMk/>
            <pc:sldMk cId="0" sldId="256"/>
            <ac:spMk id="4" creationId="{227173ED-91F5-FC4A-71F1-583680FEFCBB}"/>
          </ac:spMkLst>
        </pc:spChg>
        <pc:spChg chg="mod">
          <ac:chgData name="Manjrekar, Sakshi (Stud SRH-University)" userId="S::100006842@stud.srh-university.de::83f3bbd1-f5fe-4c83-a9da-18a77183c45d" providerId="AD" clId="Web-{00000000-0000-0000-0000-000000000000}" dt="2026-10-01T18:58:16.465" v="20" actId="1076"/>
          <ac:spMkLst>
            <pc:docMk/>
            <pc:sldMk cId="0" sldId="256"/>
            <ac:spMk id="5" creationId="{00000000-0000-0000-0000-000000000000}"/>
          </ac:spMkLst>
        </pc:spChg>
        <pc:spChg chg="add mod ord">
          <ac:chgData name="Manjrekar, Sakshi (Stud SRH-University)" userId="S::100006842@stud.srh-university.de::83f3bbd1-f5fe-4c83-a9da-18a77183c45d" providerId="AD" clId="Web-{00000000-0000-0000-0000-000000000000}" dt="2026-10-01T18:59:21.748" v="24" actId="1076"/>
          <ac:spMkLst>
            <pc:docMk/>
            <pc:sldMk cId="0" sldId="256"/>
            <ac:spMk id="6" creationId="{0638447E-EE95-29DB-6CE8-0B8A68BEF06C}"/>
          </ac:spMkLst>
        </pc:spChg>
        <pc:spChg chg="add del mod">
          <ac:chgData name="Manjrekar, Sakshi (Stud SRH-University)" userId="S::100006842@stud.srh-university.de::83f3bbd1-f5fe-4c83-a9da-18a77183c45d" providerId="AD" clId="Web-{00000000-0000-0000-0000-000000000000}" dt="2026-10-01T18:59:41.827" v="31"/>
          <ac:spMkLst>
            <pc:docMk/>
            <pc:sldMk cId="0" sldId="256"/>
            <ac:spMk id="7" creationId="{2A15E7C5-8264-8D25-5AAE-207F316B15AE}"/>
          </ac:spMkLst>
        </pc:spChg>
        <pc:spChg chg="add del mod">
          <ac:chgData name="Manjrekar, Sakshi (Stud SRH-University)" userId="S::100006842@stud.srh-university.de::83f3bbd1-f5fe-4c83-a9da-18a77183c45d" providerId="AD" clId="Web-{00000000-0000-0000-0000-000000000000}" dt="2026-10-01T18:59:49.842" v="37"/>
          <ac:spMkLst>
            <pc:docMk/>
            <pc:sldMk cId="0" sldId="256"/>
            <ac:spMk id="8" creationId="{78AE726D-3C59-584A-76B1-65400F62C56D}"/>
          </ac:spMkLst>
        </pc:spChg>
        <pc:spChg chg="mod">
          <ac:chgData name="Manjrekar, Sakshi (Stud SRH-University)" userId="S::100006842@stud.srh-university.de::83f3bbd1-f5fe-4c83-a9da-18a77183c45d" providerId="AD" clId="Web-{00000000-0000-0000-0000-000000000000}" dt="2026-10-01T18:58:42.216" v="21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Manjrekar, Sakshi (Stud SRH-University)" userId="S::100006842@stud.srh-university.de::83f3bbd1-f5fe-4c83-a9da-18a77183c45d" providerId="AD" clId="Web-{00000000-0000-0000-0000-000000000000}" dt="2026-10-01T18:58:47.825" v="22" actId="1076"/>
          <ac:spMkLst>
            <pc:docMk/>
            <pc:sldMk cId="0" sldId="256"/>
            <ac:spMk id="10" creationId="{00000000-0000-0000-0000-000000000000}"/>
          </ac:spMkLst>
        </pc:spChg>
        <pc:spChg chg="add mod">
          <ac:chgData name="Manjrekar, Sakshi (Stud SRH-University)" userId="S::100006842@stud.srh-university.de::83f3bbd1-f5fe-4c83-a9da-18a77183c45d" providerId="AD" clId="Web-{00000000-0000-0000-0000-000000000000}" dt="2026-10-01T19:02:38.439" v="57" actId="1076"/>
          <ac:spMkLst>
            <pc:docMk/>
            <pc:sldMk cId="0" sldId="256"/>
            <ac:spMk id="15" creationId="{0F678048-4B4B-EA67-9BAA-D0B0FECCC9CB}"/>
          </ac:spMkLst>
        </pc:spChg>
        <pc:picChg chg="add mod">
          <ac:chgData name="Manjrekar, Sakshi (Stud SRH-University)" userId="S::100006842@stud.srh-university.de::83f3bbd1-f5fe-4c83-a9da-18a77183c45d" providerId="AD" clId="Web-{00000000-0000-0000-0000-000000000000}" dt="2026-10-01T19:01:47.610" v="48" actId="1076"/>
          <ac:picMkLst>
            <pc:docMk/>
            <pc:sldMk cId="0" sldId="256"/>
            <ac:picMk id="12" creationId="{E1C81304-3B42-C22E-8F2F-9364A997706E}"/>
          </ac:picMkLst>
        </pc:picChg>
        <pc:picChg chg="add mod">
          <ac:chgData name="Manjrekar, Sakshi (Stud SRH-University)" userId="S::100006842@stud.srh-university.de::83f3bbd1-f5fe-4c83-a9da-18a77183c45d" providerId="AD" clId="Web-{00000000-0000-0000-0000-000000000000}" dt="2026-10-01T19:03:00.018" v="58" actId="1076"/>
          <ac:picMkLst>
            <pc:docMk/>
            <pc:sldMk cId="0" sldId="256"/>
            <ac:picMk id="14" creationId="{79A724B5-3758-86DA-3942-A99429381B0B}"/>
          </ac:picMkLst>
        </pc:picChg>
      </pc:sldChg>
      <pc:sldChg chg="addSp delSp modSp">
        <pc:chgData name="Manjrekar, Sakshi (Stud SRH-University)" userId="S::100006842@stud.srh-university.de::83f3bbd1-f5fe-4c83-a9da-18a77183c45d" providerId="AD" clId="Web-{00000000-0000-0000-0000-000000000000}" dt="2026-10-01T19:04:15.503" v="63"/>
        <pc:sldMkLst>
          <pc:docMk/>
          <pc:sldMk cId="0" sldId="278"/>
        </pc:sldMkLst>
        <pc:spChg chg="add del mod">
          <ac:chgData name="Manjrekar, Sakshi (Stud SRH-University)" userId="S::100006842@stud.srh-university.de::83f3bbd1-f5fe-4c83-a9da-18a77183c45d" providerId="AD" clId="Web-{00000000-0000-0000-0000-000000000000}" dt="2026-10-01T19:04:15.503" v="63"/>
          <ac:spMkLst>
            <pc:docMk/>
            <pc:sldMk cId="0" sldId="278"/>
            <ac:spMk id="34" creationId="{00000000-0000-0000-0000-000000000000}"/>
          </ac:spMkLst>
        </pc:spChg>
      </pc:sldChg>
      <pc:sldChg chg="modSp">
        <pc:chgData name="Manjrekar, Sakshi (Stud SRH-University)" userId="S::100006842@stud.srh-university.de::83f3bbd1-f5fe-4c83-a9da-18a77183c45d" providerId="AD" clId="Web-{00000000-0000-0000-0000-000000000000}" dt="2026-10-01T19:03:20.518" v="59" actId="1076"/>
        <pc:sldMkLst>
          <pc:docMk/>
          <pc:sldMk cId="0" sldId="283"/>
        </pc:sldMkLst>
        <pc:spChg chg="mod">
          <ac:chgData name="Manjrekar, Sakshi (Stud SRH-University)" userId="S::100006842@stud.srh-university.de::83f3bbd1-f5fe-4c83-a9da-18a77183c45d" providerId="AD" clId="Web-{00000000-0000-0000-0000-000000000000}" dt="2026-10-01T19:03:20.518" v="59" actId="1076"/>
          <ac:spMkLst>
            <pc:docMk/>
            <pc:sldMk cId="0" sldId="283"/>
            <ac:spMk id="5" creationId="{00000000-0000-0000-0000-000000000000}"/>
          </ac:spMkLst>
        </pc:spChg>
      </pc:sldChg>
    </pc:docChg>
  </pc:docChgLst>
  <pc:docChgLst>
    <pc:chgData name="Bommenahalli Gurubasappa, Vinay (Stud SRH-University)" userId="a1908dbc-125b-4d8d-969a-f12a5926d05f" providerId="ADAL" clId="{2B292A2C-8C1D-42D4-983E-181A6BF74E70}"/>
    <pc:docChg chg="custSel addSld delSld modSld">
      <pc:chgData name="Bommenahalli Gurubasappa, Vinay (Stud SRH-University)" userId="a1908dbc-125b-4d8d-969a-f12a5926d05f" providerId="ADAL" clId="{2B292A2C-8C1D-42D4-983E-181A6BF74E70}" dt="2026-10-01T18:52:03.794" v="29" actId="1076"/>
      <pc:docMkLst>
        <pc:docMk/>
      </pc:docMkLst>
      <pc:sldChg chg="delSp modSp add del mod setBg">
        <pc:chgData name="Bommenahalli Gurubasappa, Vinay (Stud SRH-University)" userId="a1908dbc-125b-4d8d-969a-f12a5926d05f" providerId="ADAL" clId="{2B292A2C-8C1D-42D4-983E-181A6BF74E70}" dt="2026-10-01T18:52:03.794" v="29" actId="1076"/>
        <pc:sldMkLst>
          <pc:docMk/>
          <pc:sldMk cId="0" sldId="256"/>
        </pc:sldMkLst>
        <pc:spChg chg="mod">
          <ac:chgData name="Bommenahalli Gurubasappa, Vinay (Stud SRH-University)" userId="a1908dbc-125b-4d8d-969a-f12a5926d05f" providerId="ADAL" clId="{2B292A2C-8C1D-42D4-983E-181A6BF74E70}" dt="2026-10-01T18:52:03.794" v="29" actId="1076"/>
          <ac:spMkLst>
            <pc:docMk/>
            <pc:sldMk cId="0" sldId="256"/>
            <ac:spMk id="5" creationId="{00000000-0000-0000-0000-000000000000}"/>
          </ac:spMkLst>
        </pc:spChg>
        <pc:spChg chg="del">
          <ac:chgData name="Bommenahalli Gurubasappa, Vinay (Stud SRH-University)" userId="a1908dbc-125b-4d8d-969a-f12a5926d05f" providerId="ADAL" clId="{2B292A2C-8C1D-42D4-983E-181A6BF74E70}" dt="2026-10-01T18:47:14.756" v="12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Bommenahalli Gurubasappa, Vinay (Stud SRH-University)" userId="a1908dbc-125b-4d8d-969a-f12a5926d05f" providerId="ADAL" clId="{2B292A2C-8C1D-42D4-983E-181A6BF74E70}" dt="2026-10-01T18:47:19.592" v="13" actId="478"/>
          <ac:spMkLst>
            <pc:docMk/>
            <pc:sldMk cId="0" sldId="256"/>
            <ac:spMk id="7" creationId="{00000000-0000-0000-0000-000000000000}"/>
          </ac:spMkLst>
        </pc:spChg>
        <pc:spChg chg="del mod">
          <ac:chgData name="Bommenahalli Gurubasappa, Vinay (Stud SRH-University)" userId="a1908dbc-125b-4d8d-969a-f12a5926d05f" providerId="ADAL" clId="{2B292A2C-8C1D-42D4-983E-181A6BF74E70}" dt="2026-10-01T18:47:24.135" v="15" actId="478"/>
          <ac:spMkLst>
            <pc:docMk/>
            <pc:sldMk cId="0" sldId="256"/>
            <ac:spMk id="8" creationId="{00000000-0000-0000-0000-000000000000}"/>
          </ac:spMkLst>
        </pc:spChg>
        <pc:spChg chg="del mod">
          <ac:chgData name="Bommenahalli Gurubasappa, Vinay (Stud SRH-University)" userId="a1908dbc-125b-4d8d-969a-f12a5926d05f" providerId="ADAL" clId="{2B292A2C-8C1D-42D4-983E-181A6BF74E70}" dt="2026-10-01T18:48:49.530" v="24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Bommenahalli Gurubasappa, Vinay (Stud SRH-University)" userId="a1908dbc-125b-4d8d-969a-f12a5926d05f" providerId="ADAL" clId="{2B292A2C-8C1D-42D4-983E-181A6BF74E70}" dt="2026-10-01T18:48:42.435" v="23" actId="1076"/>
          <ac:spMkLst>
            <pc:docMk/>
            <pc:sldMk cId="0" sldId="256"/>
            <ac:spMk id="10" creationId="{00000000-0000-0000-0000-000000000000}"/>
          </ac:spMkLst>
        </pc:spChg>
        <pc:spChg chg="del">
          <ac:chgData name="Bommenahalli Gurubasappa, Vinay (Stud SRH-University)" userId="a1908dbc-125b-4d8d-969a-f12a5926d05f" providerId="ADAL" clId="{2B292A2C-8C1D-42D4-983E-181A6BF74E70}" dt="2026-10-01T18:48:37" v="22" actId="478"/>
          <ac:spMkLst>
            <pc:docMk/>
            <pc:sldMk cId="0" sldId="256"/>
            <ac:spMk id="11" creationId="{00000000-0000-0000-0000-000000000000}"/>
          </ac:spMkLst>
        </pc:spChg>
        <pc:grpChg chg="del">
          <ac:chgData name="Bommenahalli Gurubasappa, Vinay (Stud SRH-University)" userId="a1908dbc-125b-4d8d-969a-f12a5926d05f" providerId="ADAL" clId="{2B292A2C-8C1D-42D4-983E-181A6BF74E70}" dt="2026-10-01T18:49:10.679" v="26" actId="478"/>
          <ac:grpSpMkLst>
            <pc:docMk/>
            <pc:sldMk cId="0" sldId="256"/>
            <ac:grpSpMk id="2" creationId="{00000000-0000-0000-0000-000000000000}"/>
          </ac:grpSpMkLst>
        </pc:grpChg>
        <pc:grpChg chg="del">
          <ac:chgData name="Bommenahalli Gurubasappa, Vinay (Stud SRH-University)" userId="a1908dbc-125b-4d8d-969a-f12a5926d05f" providerId="ADAL" clId="{2B292A2C-8C1D-42D4-983E-181A6BF74E70}" dt="2026-10-01T18:48:34.433" v="21" actId="478"/>
          <ac:grpSpMkLst>
            <pc:docMk/>
            <pc:sldMk cId="0" sldId="256"/>
            <ac:grpSpMk id="6" creationId="{00000000-0000-0000-0000-000000000000}"/>
          </ac:grpSpMkLst>
        </pc:grpChg>
        <pc:grpChg chg="del">
          <ac:chgData name="Bommenahalli Gurubasappa, Vinay (Stud SRH-University)" userId="a1908dbc-125b-4d8d-969a-f12a5926d05f" providerId="ADAL" clId="{2B292A2C-8C1D-42D4-983E-181A6BF74E70}" dt="2026-10-01T18:48:33.192" v="20" actId="478"/>
          <ac:grpSpMkLst>
            <pc:docMk/>
            <pc:sldMk cId="0" sldId="256"/>
            <ac:grpSpMk id="12" creationId="{00000000-0000-0000-0000-000000000000}"/>
          </ac:grpSpMkLst>
        </pc:grpChg>
      </pc:sldChg>
      <pc:sldChg chg="modSp mod">
        <pc:chgData name="Bommenahalli Gurubasappa, Vinay (Stud SRH-University)" userId="a1908dbc-125b-4d8d-969a-f12a5926d05f" providerId="ADAL" clId="{2B292A2C-8C1D-42D4-983E-181A6BF74E70}" dt="2026-10-01T18:46:42.160" v="10" actId="20577"/>
        <pc:sldMkLst>
          <pc:docMk/>
          <pc:sldMk cId="0" sldId="266"/>
        </pc:sldMkLst>
        <pc:spChg chg="mod">
          <ac:chgData name="Bommenahalli Gurubasappa, Vinay (Stud SRH-University)" userId="a1908dbc-125b-4d8d-969a-f12a5926d05f" providerId="ADAL" clId="{2B292A2C-8C1D-42D4-983E-181A6BF74E70}" dt="2026-10-01T18:46:42.160" v="10" actId="20577"/>
          <ac:spMkLst>
            <pc:docMk/>
            <pc:sldMk cId="0" sldId="266"/>
            <ac:spMk id="18" creationId="{00000000-0000-0000-0000-000000000000}"/>
          </ac:spMkLst>
        </pc:spChg>
      </pc:sldChg>
      <pc:sldChg chg="del">
        <pc:chgData name="Bommenahalli Gurubasappa, Vinay (Stud SRH-University)" userId="a1908dbc-125b-4d8d-969a-f12a5926d05f" providerId="ADAL" clId="{2B292A2C-8C1D-42D4-983E-181A6BF74E70}" dt="2026-10-01T18:48:28.776" v="19" actId="47"/>
        <pc:sldMkLst>
          <pc:docMk/>
          <pc:sldMk cId="0" sldId="267"/>
        </pc:sldMkLst>
      </pc:sldChg>
      <pc:sldChg chg="delSp add mod">
        <pc:chgData name="Bommenahalli Gurubasappa, Vinay (Stud SRH-University)" userId="a1908dbc-125b-4d8d-969a-f12a5926d05f" providerId="ADAL" clId="{2B292A2C-8C1D-42D4-983E-181A6BF74E70}" dt="2026-10-01T18:49:38.157" v="28" actId="478"/>
        <pc:sldMkLst>
          <pc:docMk/>
          <pc:sldMk cId="0" sldId="283"/>
        </pc:sldMkLst>
        <pc:grpChg chg="del">
          <ac:chgData name="Bommenahalli Gurubasappa, Vinay (Stud SRH-University)" userId="a1908dbc-125b-4d8d-969a-f12a5926d05f" providerId="ADAL" clId="{2B292A2C-8C1D-42D4-983E-181A6BF74E70}" dt="2026-10-01T18:49:38.157" v="28" actId="478"/>
          <ac:grpSpMkLst>
            <pc:docMk/>
            <pc:sldMk cId="0" sldId="283"/>
            <ac:grpSpMk id="2" creationId="{00000000-0000-0000-0000-000000000000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0767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611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352632" y="725265"/>
            <a:ext cx="9190088" cy="7566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56"/>
              </a:lnSpc>
            </a:pPr>
            <a:r>
              <a:rPr lang="en-US" sz="5137" b="1" dirty="0">
                <a:solidFill>
                  <a:srgbClr val="303870"/>
                </a:solidFill>
                <a:latin typeface="Abadi" panose="020B0604020104020204" pitchFamily="34" charset="0"/>
                <a:ea typeface="Agrandir Wide Bold"/>
                <a:cs typeface="Agrandir Wide Bold"/>
                <a:sym typeface="Agrandir Wide Bold"/>
              </a:rPr>
              <a:t>SIMILARITY SCORING ENGINE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57053" y="1695194"/>
            <a:ext cx="9867381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5"/>
              </a:lnSpc>
            </a:pPr>
            <a:r>
              <a:rPr lang="en-US" sz="2460" b="1" dirty="0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MODEL PERFORMANCE EVALUATION FRAMEWORK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90444" y="2251427"/>
            <a:ext cx="9000597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3"/>
              </a:lnSpc>
            </a:pPr>
            <a:r>
              <a:rPr lang="en-US" sz="1493" b="1" dirty="0">
                <a:solidFill>
                  <a:srgbClr val="7885C2"/>
                </a:solidFill>
                <a:latin typeface="Cambria Bold"/>
                <a:ea typeface="Cambria Bold"/>
                <a:cs typeface="Cambria Bold"/>
                <a:sym typeface="Cambria Bold"/>
              </a:rPr>
              <a:t>A DUPLICATE-QUESTION DETECTION ENGINE FOR THE EVALUATOR LOG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426B12-056E-1C8C-F398-F16D80AE6DD4}"/>
              </a:ext>
            </a:extLst>
          </p:cNvPr>
          <p:cNvSpPr txBox="1"/>
          <p:nvPr/>
        </p:nvSpPr>
        <p:spPr>
          <a:xfrm>
            <a:off x="3142742" y="2896059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US" b="1" i="0" dirty="0">
                <a:solidFill>
                  <a:srgbClr val="000000"/>
                </a:solidFill>
              </a:rPr>
              <a:t>Supervisor: Prof. Dr.-Ing. Swati Chandna</a:t>
            </a:r>
          </a:p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28B2164-7180-AD10-5BB1-284F171D6558}"/>
              </a:ext>
            </a:extLst>
          </p:cNvPr>
          <p:cNvGrpSpPr/>
          <p:nvPr/>
        </p:nvGrpSpPr>
        <p:grpSpPr>
          <a:xfrm>
            <a:off x="2992921" y="3542390"/>
            <a:ext cx="6096000" cy="690739"/>
            <a:chOff x="3061797" y="3529034"/>
            <a:chExt cx="6096000" cy="69073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638447E-EE95-29DB-6CE8-0B8A68BEF06C}"/>
                </a:ext>
              </a:extLst>
            </p:cNvPr>
            <p:cNvSpPr/>
            <p:nvPr/>
          </p:nvSpPr>
          <p:spPr>
            <a:xfrm>
              <a:off x="3701358" y="3529034"/>
              <a:ext cx="4927036" cy="53824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3C36EBB-2689-F896-B61C-365AB0247F67}"/>
                </a:ext>
              </a:extLst>
            </p:cNvPr>
            <p:cNvSpPr txBox="1"/>
            <p:nvPr/>
          </p:nvSpPr>
          <p:spPr>
            <a:xfrm>
              <a:off x="3061797" y="3573442"/>
              <a:ext cx="6096000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rtl="0"/>
              <a:r>
                <a:rPr lang="en-US" b="1" i="0" dirty="0">
                  <a:solidFill>
                    <a:srgbClr val="303870"/>
                  </a:solidFill>
                </a:rPr>
                <a:t>Deutsche Bank X SRH Heidelberg </a:t>
              </a:r>
            </a:p>
            <a:p>
              <a:pPr algn="ctr"/>
              <a:endParaRPr lang="en-US" dirty="0"/>
            </a:p>
          </p:txBody>
        </p:sp>
      </p:grpSp>
      <p:pic>
        <p:nvPicPr>
          <p:cNvPr id="12" name="Image 4" descr="Deutsche Bank logo">
            <a:extLst>
              <a:ext uri="{FF2B5EF4-FFF2-40B4-BE49-F238E27FC236}">
                <a16:creationId xmlns:a16="http://schemas.microsoft.com/office/drawing/2014/main" id="{E1C81304-3B42-C22E-8F2F-9364A9977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266" y="4506160"/>
            <a:ext cx="1803841" cy="1137521"/>
          </a:xfrm>
          <a:prstGeom prst="rect">
            <a:avLst/>
          </a:prstGeom>
        </p:spPr>
      </p:pic>
      <p:pic>
        <p:nvPicPr>
          <p:cNvPr id="14" name="Image 5" descr="SRH logo">
            <a:extLst>
              <a:ext uri="{FF2B5EF4-FFF2-40B4-BE49-F238E27FC236}">
                <a16:creationId xmlns:a16="http://schemas.microsoft.com/office/drawing/2014/main" id="{79A724B5-3758-86DA-3942-A99429381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4036" y="4373639"/>
            <a:ext cx="1591144" cy="140256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F678048-4B4B-EA67-9BAA-D0B0FECCC9CB}"/>
              </a:ext>
            </a:extLst>
          </p:cNvPr>
          <p:cNvSpPr txBox="1"/>
          <p:nvPr/>
        </p:nvSpPr>
        <p:spPr>
          <a:xfrm>
            <a:off x="5794735" y="4726968"/>
            <a:ext cx="160381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 dirty="0">
                <a:solidFill>
                  <a:srgbClr val="303870"/>
                </a:solidFill>
                <a:ea typeface="Calibri"/>
                <a:cs typeface="Calibri"/>
              </a:rPr>
              <a:t>X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8" name="Shape 11">
            <a:extLst>
              <a:ext uri="{FF2B5EF4-FFF2-40B4-BE49-F238E27FC236}">
                <a16:creationId xmlns:a16="http://schemas.microsoft.com/office/drawing/2014/main" id="{A7639378-9CA7-DF91-D6BB-A0A9FDEE0929}"/>
              </a:ext>
            </a:extLst>
          </p:cNvPr>
          <p:cNvSpPr/>
          <p:nvPr/>
        </p:nvSpPr>
        <p:spPr>
          <a:xfrm rot="16200000">
            <a:off x="8444506" y="3110506"/>
            <a:ext cx="6886786" cy="608202"/>
          </a:xfrm>
          <a:prstGeom prst="roundRect">
            <a:avLst>
              <a:gd name="adj" fmla="val 5161"/>
            </a:avLst>
          </a:prstGeom>
          <a:solidFill>
            <a:srgbClr val="141B4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6"/>
          <p:cNvSpPr/>
          <p:nvPr/>
        </p:nvSpPr>
        <p:spPr>
          <a:xfrm>
            <a:off x="6448806" y="1773936"/>
            <a:ext cx="2029968" cy="2029968"/>
          </a:xfrm>
          <a:prstGeom prst="ellipse">
            <a:avLst/>
          </a:prstGeom>
          <a:solidFill>
            <a:srgbClr val="5B7FFF"/>
          </a:solidFill>
          <a:ln w="6350">
            <a:solidFill>
              <a:srgbClr val="5B7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172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our 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6686" y="1773936"/>
            <a:ext cx="2029968" cy="2029968"/>
          </a:xfrm>
          <a:prstGeom prst="ellipse">
            <a:avLst/>
          </a:prstGeom>
          <a:solidFill>
            <a:srgbClr val="5B7FFF"/>
          </a:solidFill>
          <a:ln w="6350">
            <a:solidFill>
              <a:srgbClr val="5B7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Shruti Bhandar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1828800"/>
            <a:ext cx="1920240" cy="1920240"/>
          </a:xfrm>
          <a:prstGeom prst="ellipse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931920"/>
            <a:ext cx="27660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Shruti Bhandari</a:t>
            </a:r>
            <a:endParaRPr lang="en-US" sz="1800"/>
          </a:p>
        </p:txBody>
      </p:sp>
      <p:sp>
        <p:nvSpPr>
          <p:cNvPr id="7" name="Shape 4"/>
          <p:cNvSpPr/>
          <p:nvPr/>
        </p:nvSpPr>
        <p:spPr>
          <a:xfrm>
            <a:off x="3682746" y="1773936"/>
            <a:ext cx="2029968" cy="2029968"/>
          </a:xfrm>
          <a:prstGeom prst="ellipse">
            <a:avLst/>
          </a:prstGeom>
          <a:solidFill>
            <a:srgbClr val="5B7FFF"/>
          </a:solidFill>
          <a:ln w="6350">
            <a:solidFill>
              <a:srgbClr val="5B7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Sakshi Manjrek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670" y="1828800"/>
            <a:ext cx="1920240" cy="1920240"/>
          </a:xfrm>
          <a:prstGeom prst="ellipse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314700" y="3931920"/>
            <a:ext cx="27660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Vinay BG</a:t>
            </a:r>
            <a:endParaRPr lang="en-US" sz="1800"/>
          </a:p>
        </p:txBody>
      </p:sp>
      <p:pic>
        <p:nvPicPr>
          <p:cNvPr id="11" name="Image 2" descr="Vinay B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7610" y="1828800"/>
            <a:ext cx="1920240" cy="1920240"/>
          </a:xfrm>
          <a:prstGeom prst="ellipse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080760" y="3931920"/>
            <a:ext cx="27660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Sakshi Manjrekar</a:t>
            </a:r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9214866" y="1773936"/>
            <a:ext cx="2029968" cy="2029968"/>
          </a:xfrm>
          <a:prstGeom prst="ellipse">
            <a:avLst/>
          </a:prstGeom>
          <a:solidFill>
            <a:srgbClr val="5B7FFF"/>
          </a:solidFill>
          <a:ln w="6350">
            <a:solidFill>
              <a:srgbClr val="5B7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3" descr="Saniya Shaikh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9730" y="1828800"/>
            <a:ext cx="1920240" cy="1920240"/>
          </a:xfrm>
          <a:prstGeom prst="ellipse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846820" y="3931920"/>
            <a:ext cx="27660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Saniya Shaikh</a:t>
            </a:r>
            <a:endParaRPr lang="en-US" sz="1800"/>
          </a:p>
        </p:txBody>
      </p:sp>
      <p:sp>
        <p:nvSpPr>
          <p:cNvPr id="16" name="Shape 10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  <a:ln w="9525">
            <a:solidFill>
              <a:srgbClr val="E5E8F2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 txBox="1"/>
          <p:nvPr/>
        </p:nvSpPr>
        <p:spPr>
          <a:xfrm>
            <a:off x="868680" y="5120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100"/>
          </a:p>
        </p:txBody>
      </p:sp>
      <p:sp>
        <p:nvSpPr>
          <p:cNvPr id="18" name="Text 12"/>
          <p:cNvSpPr txBox="1"/>
          <p:nvPr/>
        </p:nvSpPr>
        <p:spPr>
          <a:xfrm>
            <a:off x="868680" y="541324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Prof. Dr.-Ing. Swati Chandna</a:t>
            </a:r>
            <a:endParaRPr lang="en-US" sz="2000"/>
          </a:p>
        </p:txBody>
      </p:sp>
      <p:sp>
        <p:nvSpPr>
          <p:cNvPr id="19" name="Text 13"/>
          <p:cNvSpPr txBox="1"/>
          <p:nvPr/>
        </p:nvSpPr>
        <p:spPr>
          <a:xfrm>
            <a:off x="5760720" y="51663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Deutsche Bank × SRH Heidelberg</a:t>
            </a:r>
            <a:endParaRPr lang="en-US" sz="1300"/>
          </a:p>
        </p:txBody>
      </p:sp>
      <p:pic>
        <p:nvPicPr>
          <p:cNvPr id="20" name="Image 4" descr="Deutsche Bank 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2520" y="5074920"/>
            <a:ext cx="1417320" cy="850392"/>
          </a:xfrm>
          <a:prstGeom prst="rect">
            <a:avLst/>
          </a:prstGeom>
        </p:spPr>
      </p:pic>
      <p:pic>
        <p:nvPicPr>
          <p:cNvPr id="21" name="Image 5" descr="SRH 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78440" y="5074920"/>
            <a:ext cx="1005840" cy="85039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Framework</a:t>
            </a:r>
            <a:endParaRPr lang="en-US" sz="900"/>
          </a:p>
        </p:txBody>
      </p:sp>
      <p:sp>
        <p:nvSpPr>
          <p:cNvPr id="23" name="Text 15"/>
          <p:cNvSpPr txBox="1"/>
          <p:nvPr/>
        </p:nvSpPr>
        <p:spPr>
          <a:xfrm>
            <a:off x="11457432" y="6537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8F9FF2DA-642E-AA11-AFF7-CC2C8B076E97}"/>
              </a:ext>
            </a:extLst>
          </p:cNvPr>
          <p:cNvSpPr/>
          <p:nvPr/>
        </p:nvSpPr>
        <p:spPr>
          <a:xfrm rot="16200000">
            <a:off x="8444506" y="3110506"/>
            <a:ext cx="6886786" cy="608202"/>
          </a:xfrm>
          <a:prstGeom prst="roundRect">
            <a:avLst>
              <a:gd name="adj" fmla="val 5161"/>
            </a:avLst>
          </a:prstGeom>
          <a:solidFill>
            <a:srgbClr val="141B4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>
                <a:ln>
                  <a:noFill/>
                </a:ln>
                <a:solidFill>
                  <a:srgbClr val="5B7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141B4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Why traditional evaluation doesn't work here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A55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inputs and outputs are free-flowing natural language - not fixed-format ML predictions. Two prompts can be worded completely differently and still mean exactly the same thing: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166360" cy="1371600"/>
          </a:xfrm>
          <a:prstGeom prst="roundRect">
            <a:avLst>
              <a:gd name="adj" fmla="val 6667"/>
            </a:avLst>
          </a:prstGeom>
          <a:solidFill>
            <a:srgbClr val="F7F8FC"/>
          </a:solidFill>
          <a:ln w="12700">
            <a:solidFill>
              <a:srgbClr val="E5E8F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68680" y="2715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50" normalizeH="0" baseline="0" noProof="0">
                <a:ln>
                  <a:noFill/>
                </a:ln>
                <a:solidFill>
                  <a:srgbClr val="5B7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PROMPT 1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68680" y="301752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>
                <a:ln>
                  <a:noFill/>
                </a:ln>
                <a:solidFill>
                  <a:srgbClr val="141B4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“Compare CIR of both businesses”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80760" y="2514600"/>
            <a:ext cx="5166360" cy="1371600"/>
          </a:xfrm>
          <a:prstGeom prst="roundRect">
            <a:avLst>
              <a:gd name="adj" fmla="val 6667"/>
            </a:avLst>
          </a:prstGeom>
          <a:solidFill>
            <a:srgbClr val="F7F8FC"/>
          </a:solidFill>
          <a:ln w="12700">
            <a:solidFill>
              <a:srgbClr val="E5E8F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00800" y="2715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50" normalizeH="0" baseline="0" noProof="0">
                <a:ln>
                  <a:noFill/>
                </a:ln>
                <a:solidFill>
                  <a:srgbClr val="5B7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PROMPT 2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00800" y="301752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>
                <a:ln>
                  <a:noFill/>
                </a:ln>
                <a:solidFill>
                  <a:srgbClr val="141B4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“Based on cost income ratio how do these businesses stand financially”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715000" y="28803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srgbClr val="5B7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48640" y="399592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>
                <a:ln>
                  <a:noFill/>
                </a:ln>
                <a:solidFill>
                  <a:srgbClr val="2FAE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Semantically equivalent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41B4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68680" y="4892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>
                <a:ln>
                  <a:noFill/>
                </a:ln>
                <a:solidFill>
                  <a:srgbClr val="5B7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THEREFORE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68680" y="516636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Exact string or token matching is not suitable for evaluation.</a:t>
            </a: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68680" y="562356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Outputs carry the same complexity - different wording, derived numbers, comparative statements, or tables can all express one consistent underlying answer.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Framework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1457432" y="6537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2">
            <a:extLst>
              <a:ext uri="{FF2B5EF4-FFF2-40B4-BE49-F238E27FC236}">
                <a16:creationId xmlns:a16="http://schemas.microsoft.com/office/drawing/2014/main" id="{86AD2152-4386-1606-EEC9-E26E72910B31}"/>
              </a:ext>
            </a:extLst>
          </p:cNvPr>
          <p:cNvSpPr/>
          <p:nvPr/>
        </p:nvSpPr>
        <p:spPr>
          <a:xfrm>
            <a:off x="548640" y="5989320"/>
            <a:ext cx="11064240" cy="411480"/>
          </a:xfrm>
          <a:prstGeom prst="roundRect">
            <a:avLst>
              <a:gd name="adj" fmla="val 13333"/>
            </a:avLst>
          </a:prstGeom>
          <a:solidFill>
            <a:srgbClr val="EEF1F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>
                <a:ln>
                  <a:noFill/>
                </a:ln>
                <a:solidFill>
                  <a:srgbClr val="5B7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141B4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 quantitative, repeatable, explainable framework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3337560" cy="3063240"/>
          </a:xfrm>
          <a:prstGeom prst="roundRect">
            <a:avLst>
              <a:gd name="adj" fmla="val 2985"/>
            </a:avLst>
          </a:prstGeom>
          <a:solidFill>
            <a:srgbClr val="141B4D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26060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5B7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338328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Determine question similarity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420624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Decide whether two or more input prompts are asking the same underlying question  regardless of wording.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06240" y="2377440"/>
            <a:ext cx="3337560" cy="3063240"/>
          </a:xfrm>
          <a:prstGeom prst="roundRect">
            <a:avLst>
              <a:gd name="adj" fmla="val 2985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480560" y="26060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5B7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480560" y="338328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Assess output consistency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480560" y="420624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 matched prompts, check whether the generated outputs are contextually and numerically consistent.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863840" y="2377440"/>
            <a:ext cx="3337560" cy="3063240"/>
          </a:xfrm>
          <a:prstGeom prst="roundRect">
            <a:avLst>
              <a:gd name="adj" fmla="val 2985"/>
            </a:avLst>
          </a:prstGeom>
          <a:solidFill>
            <a:srgbClr val="141B4D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138160" y="26060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5B7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138160" y="338328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Produce quantifiable metrics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138160" y="420624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Compare current model outputs against historical baseline outputs with defined, auditable scores.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Framework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1457432" y="6537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B882BA-2CC4-D7F5-724F-37F77558293B}"/>
              </a:ext>
            </a:extLst>
          </p:cNvPr>
          <p:cNvSpPr txBox="1"/>
          <p:nvPr/>
        </p:nvSpPr>
        <p:spPr>
          <a:xfrm>
            <a:off x="548640" y="6025783"/>
            <a:ext cx="10165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A5578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-120"/>
              </a:rPr>
              <a:t>Determine Question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A55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- which is implemented and working today.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20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framework quantifies quality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5B7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/>
          </a:p>
        </p:txBody>
      </p:sp>
      <p:sp>
        <p:nvSpPr>
          <p:cNvPr id="6" name="Text 4"/>
          <p:cNvSpPr txBox="1"/>
          <p:nvPr/>
        </p:nvSpPr>
        <p:spPr>
          <a:xfrm>
            <a:off x="1188720" y="17647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similarity score</a:t>
            </a:r>
            <a:endParaRPr lang="en-US" sz="1650"/>
          </a:p>
        </p:txBody>
      </p:sp>
      <p:sp>
        <p:nvSpPr>
          <p:cNvPr id="7" name="Text 5"/>
          <p:cNvSpPr txBox="1"/>
          <p:nvPr/>
        </p:nvSpPr>
        <p:spPr>
          <a:xfrm>
            <a:off x="6172200" y="1792224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Prompt-to-prompt meaning match, independent of exact wording.</a:t>
            </a:r>
            <a:endParaRPr lang="en-US" sz="1150"/>
          </a:p>
        </p:txBody>
      </p:sp>
      <p:sp>
        <p:nvSpPr>
          <p:cNvPr id="8" name="Shape 6"/>
          <p:cNvSpPr/>
          <p:nvPr/>
        </p:nvSpPr>
        <p:spPr>
          <a:xfrm>
            <a:off x="10378440" y="1856232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E3F5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378440" y="185623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2F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Built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548640" y="2496312"/>
            <a:ext cx="11064240" cy="0"/>
          </a:xfrm>
          <a:prstGeom prst="line">
            <a:avLst/>
          </a:prstGeom>
          <a:noFill/>
          <a:ln w="12700">
            <a:solidFill>
              <a:srgbClr val="ED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9CE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/>
          </a:p>
        </p:txBody>
      </p:sp>
      <p:sp>
        <p:nvSpPr>
          <p:cNvPr id="13" name="Text 11"/>
          <p:cNvSpPr txBox="1"/>
          <p:nvPr/>
        </p:nvSpPr>
        <p:spPr>
          <a:xfrm>
            <a:off x="1188720" y="26791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>
                <a:solidFill>
                  <a:srgbClr val="8A93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 alignment score</a:t>
            </a:r>
            <a:endParaRPr lang="en-US" sz="1650"/>
          </a:p>
        </p:txBody>
      </p:sp>
      <p:sp>
        <p:nvSpPr>
          <p:cNvPr id="14" name="Text 12"/>
          <p:cNvSpPr txBox="1"/>
          <p:nvPr/>
        </p:nvSpPr>
        <p:spPr>
          <a:xfrm>
            <a:off x="6172200" y="2706624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A3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Tolerance-based comparison of ratios, figures, and derived numbers between calls.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>
            <a:off x="10378440" y="2770632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BF0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10378440" y="277063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Planned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548640" y="3410712"/>
            <a:ext cx="11064240" cy="0"/>
          </a:xfrm>
          <a:prstGeom prst="line">
            <a:avLst/>
          </a:prstGeom>
          <a:noFill/>
          <a:ln w="12700">
            <a:solidFill>
              <a:srgbClr val="ED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9CE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486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/>
          </a:p>
        </p:txBody>
      </p:sp>
      <p:sp>
        <p:nvSpPr>
          <p:cNvPr id="20" name="Text 18"/>
          <p:cNvSpPr txBox="1"/>
          <p:nvPr/>
        </p:nvSpPr>
        <p:spPr>
          <a:xfrm>
            <a:off x="1188720" y="35935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>
                <a:solidFill>
                  <a:srgbClr val="8A93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consistency score</a:t>
            </a:r>
            <a:endParaRPr lang="en-US" sz="1650"/>
          </a:p>
        </p:txBody>
      </p:sp>
      <p:sp>
        <p:nvSpPr>
          <p:cNvPr id="21" name="Text 19"/>
          <p:cNvSpPr txBox="1"/>
          <p:nvPr/>
        </p:nvSpPr>
        <p:spPr>
          <a:xfrm>
            <a:off x="6172200" y="3621024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A3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two outputs reach the same financial conclusion or ranking.</a:t>
            </a:r>
            <a:endParaRPr lang="en-US" sz="1150"/>
          </a:p>
        </p:txBody>
      </p:sp>
      <p:sp>
        <p:nvSpPr>
          <p:cNvPr id="22" name="Shape 20"/>
          <p:cNvSpPr/>
          <p:nvPr/>
        </p:nvSpPr>
        <p:spPr>
          <a:xfrm>
            <a:off x="10378440" y="3685032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BF0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10378440" y="368503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Planned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548640" y="4325112"/>
            <a:ext cx="11064240" cy="0"/>
          </a:xfrm>
          <a:prstGeom prst="line">
            <a:avLst/>
          </a:prstGeom>
          <a:noFill/>
          <a:ln w="12700">
            <a:solidFill>
              <a:srgbClr val="ED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" y="45262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9CE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54864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/>
          </a:p>
        </p:txBody>
      </p:sp>
      <p:sp>
        <p:nvSpPr>
          <p:cNvPr id="27" name="Text 25"/>
          <p:cNvSpPr txBox="1"/>
          <p:nvPr/>
        </p:nvSpPr>
        <p:spPr>
          <a:xfrm>
            <a:off x="1188720" y="45079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>
                <a:solidFill>
                  <a:srgbClr val="8A93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accuracy score</a:t>
            </a:r>
            <a:endParaRPr lang="en-US" sz="1650"/>
          </a:p>
        </p:txBody>
      </p:sp>
      <p:sp>
        <p:nvSpPr>
          <p:cNvPr id="28" name="Text 26"/>
          <p:cNvSpPr txBox="1"/>
          <p:nvPr/>
        </p:nvSpPr>
        <p:spPr>
          <a:xfrm>
            <a:off x="6172200" y="4535424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A3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roll-up of all scores above, per use case, business unit, or model version.</a:t>
            </a:r>
            <a:endParaRPr lang="en-US" sz="1150"/>
          </a:p>
        </p:txBody>
      </p:sp>
      <p:sp>
        <p:nvSpPr>
          <p:cNvPr id="29" name="Shape 27"/>
          <p:cNvSpPr/>
          <p:nvPr/>
        </p:nvSpPr>
        <p:spPr>
          <a:xfrm>
            <a:off x="10378440" y="4599432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FBF0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10378440" y="459943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Planned</a:t>
            </a:r>
            <a:endParaRPr lang="en-US" sz="1050"/>
          </a:p>
        </p:txBody>
      </p:sp>
      <p:sp>
        <p:nvSpPr>
          <p:cNvPr id="31" name="Shape 29"/>
          <p:cNvSpPr/>
          <p:nvPr/>
        </p:nvSpPr>
        <p:spPr>
          <a:xfrm>
            <a:off x="548640" y="557784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F7F8FC"/>
          </a:solidFill>
          <a:ln w="12700">
            <a:solidFill>
              <a:srgbClr val="E5E8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822960" y="56875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today:  </a:t>
            </a:r>
            <a:r>
              <a:rPr lang="en-US" sz="115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semantic similarity score is live and explainable. Numerical alignment, context consistency, and the overall combined score are designed but not yet implemented.</a:t>
            </a:r>
            <a:endParaRPr lang="en-US" sz="1150"/>
          </a:p>
        </p:txBody>
      </p:sp>
      <p:sp>
        <p:nvSpPr>
          <p:cNvPr id="33" name="Text 31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Framework</a:t>
            </a:r>
            <a:endParaRPr lang="en-US" sz="900"/>
          </a:p>
        </p:txBody>
      </p:sp>
      <p:sp>
        <p:nvSpPr>
          <p:cNvPr id="34" name="Text 32"/>
          <p:cNvSpPr txBox="1"/>
          <p:nvPr/>
        </p:nvSpPr>
        <p:spPr>
          <a:xfrm>
            <a:off x="11457432" y="6537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011680"/>
            <a:ext cx="5120640" cy="5120640"/>
          </a:xfrm>
          <a:prstGeom prst="ellipse">
            <a:avLst/>
          </a:prstGeom>
          <a:solidFill>
            <a:srgbClr val="1E2761">
              <a:alpha val="60000"/>
            </a:srgbClr>
          </a:solidFill>
          <a:ln w="12700">
            <a:solidFill>
              <a:srgbClr val="1E276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463040" y="4937760"/>
            <a:ext cx="3474720" cy="3474720"/>
          </a:xfrm>
          <a:prstGeom prst="ellipse">
            <a:avLst/>
          </a:prstGeom>
          <a:solidFill>
            <a:srgbClr val="1E2761">
              <a:alpha val="45000"/>
            </a:srgbClr>
          </a:solidFill>
          <a:ln w="12700">
            <a:solidFill>
              <a:srgbClr val="1E276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 ·  IMPLEMENTED AND WORKING</a:t>
            </a:r>
            <a:endParaRPr lang="en-US" sz="130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Similarity Scoring </a:t>
            </a:r>
            <a:r>
              <a:rPr lang="en-US" sz="4600" b="1">
                <a:solidFill>
                  <a:srgbClr val="5B7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</a:t>
            </a:r>
            <a:endParaRPr lang="en-US" sz="4600"/>
          </a:p>
        </p:txBody>
      </p:sp>
      <p:sp>
        <p:nvSpPr>
          <p:cNvPr id="6" name="Text 4"/>
          <p:cNvSpPr txBox="1"/>
          <p:nvPr/>
        </p:nvSpPr>
        <p:spPr>
          <a:xfrm>
            <a:off x="822960" y="31546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duplicate-question detection engine for the evaluator log: the first working layer of the Model Evaluation Framework.</a:t>
            </a:r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5B7FFF"/>
          </a:solidFill>
          <a:ln w="12700">
            <a:solidFill>
              <a:srgbClr val="5B7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51560" y="470916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/>
          </a:p>
        </p:txBody>
      </p:sp>
      <p:sp>
        <p:nvSpPr>
          <p:cNvPr id="9" name="Text 7"/>
          <p:cNvSpPr txBox="1"/>
          <p:nvPr/>
        </p:nvSpPr>
        <p:spPr>
          <a:xfrm>
            <a:off x="1600200" y="47091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similarity</a:t>
            </a:r>
            <a:endParaRPr lang="en-US" sz="1500"/>
          </a:p>
        </p:txBody>
      </p:sp>
      <p:sp>
        <p:nvSpPr>
          <p:cNvPr id="10" name="Text 8"/>
          <p:cNvSpPr txBox="1"/>
          <p:nvPr/>
        </p:nvSpPr>
        <p:spPr>
          <a:xfrm>
            <a:off x="1600200" y="5093208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Built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4343400" y="452628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1A2158"/>
          </a:solidFill>
          <a:ln w="12700">
            <a:solidFill>
              <a:srgbClr val="2B34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572000" y="470916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8D9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/>
          </a:p>
        </p:txBody>
      </p:sp>
      <p:sp>
        <p:nvSpPr>
          <p:cNvPr id="13" name="Text 11"/>
          <p:cNvSpPr txBox="1"/>
          <p:nvPr/>
        </p:nvSpPr>
        <p:spPr>
          <a:xfrm>
            <a:off x="5120640" y="47091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consistency</a:t>
            </a:r>
            <a:endParaRPr lang="en-US" sz="1500"/>
          </a:p>
        </p:txBody>
      </p:sp>
      <p:sp>
        <p:nvSpPr>
          <p:cNvPr id="14" name="Text 12"/>
          <p:cNvSpPr txBox="1"/>
          <p:nvPr/>
        </p:nvSpPr>
        <p:spPr>
          <a:xfrm>
            <a:off x="5120640" y="5093208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8D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Planned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7863840" y="452628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1A2158"/>
          </a:solidFill>
          <a:ln w="12700">
            <a:solidFill>
              <a:srgbClr val="2B34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092440" y="470916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8D9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/>
          </a:p>
        </p:txBody>
      </p:sp>
      <p:sp>
        <p:nvSpPr>
          <p:cNvPr id="17" name="Text 15"/>
          <p:cNvSpPr txBox="1"/>
          <p:nvPr/>
        </p:nvSpPr>
        <p:spPr>
          <a:xfrm>
            <a:off x="8641080" y="47091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Quantifiable metrics</a:t>
            </a:r>
            <a:endParaRPr lang="en-US" sz="1500"/>
          </a:p>
        </p:txBody>
      </p:sp>
      <p:sp>
        <p:nvSpPr>
          <p:cNvPr id="18" name="Text 16"/>
          <p:cNvSpPr txBox="1"/>
          <p:nvPr/>
        </p:nvSpPr>
        <p:spPr>
          <a:xfrm>
            <a:off x="8641080" y="5093208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8D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Planned</a:t>
            </a:r>
            <a:endParaRPr lang="en-US" sz="120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D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Framework</a:t>
            </a:r>
            <a:endParaRPr lang="en-US" sz="900"/>
          </a:p>
        </p:txBody>
      </p:sp>
      <p:sp>
        <p:nvSpPr>
          <p:cNvPr id="20" name="Text 18"/>
          <p:cNvSpPr txBox="1"/>
          <p:nvPr/>
        </p:nvSpPr>
        <p:spPr>
          <a:xfrm>
            <a:off x="11457432" y="6537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D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PROBLEM STATEMENT</a:t>
            </a:r>
            <a:endParaRPr lang="en-US" sz="120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question, asked many different ways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Evaluators ask financially equivalent questions in different ways. </a:t>
            </a:r>
            <a:r>
              <a:rPr lang="en-US" sz="14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way to detect this, evaluation coverage looks larger than it is, duplicate work is repeated, and the same question gets inconsistent answers across sessions.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520440" cy="2240280"/>
          </a:xfrm>
          <a:prstGeom prst="roundRect">
            <a:avLst>
              <a:gd name="adj" fmla="val 3265"/>
            </a:avLst>
          </a:prstGeom>
          <a:solidFill>
            <a:srgbClr val="F7F8FC"/>
          </a:solidFill>
          <a:ln w="9525">
            <a:solidFill>
              <a:srgbClr val="E5E8F2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548640" cy="548640"/>
          </a:xfrm>
          <a:prstGeom prst="ellipse">
            <a:avLst/>
          </a:prstGeom>
          <a:solidFill>
            <a:srgbClr val="5B7FFF"/>
          </a:solidFill>
          <a:ln w="6350">
            <a:solidFill>
              <a:srgbClr val="5B7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</a:t>
            </a:r>
            <a:endParaRPr lang="en-US" sz="200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Abbreviation variance</a:t>
            </a:r>
            <a:endParaRPr lang="en-US" sz="1700"/>
          </a:p>
        </p:txBody>
      </p:sp>
      <p:sp>
        <p:nvSpPr>
          <p:cNvPr id="9" name="Text 7"/>
          <p:cNvSpPr txBox="1"/>
          <p:nvPr/>
        </p:nvSpPr>
        <p:spPr>
          <a:xfrm>
            <a:off x="822960" y="386791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“ROE” vs “equity return” vs “return for shareholders”. Same metric, three spellings, so plain text search misses the duplicate.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4320540" y="2514600"/>
            <a:ext cx="3520440" cy="2240280"/>
          </a:xfrm>
          <a:prstGeom prst="roundRect">
            <a:avLst>
              <a:gd name="adj" fmla="val 3265"/>
            </a:avLst>
          </a:prstGeom>
          <a:solidFill>
            <a:srgbClr val="F7F8FC"/>
          </a:solidFill>
          <a:ln w="9525">
            <a:solidFill>
              <a:srgbClr val="E5E8F2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94860" y="2788920"/>
            <a:ext cx="548640" cy="548640"/>
          </a:xfrm>
          <a:prstGeom prst="ellipse">
            <a:avLst/>
          </a:prstGeom>
          <a:solidFill>
            <a:srgbClr val="E8A33D"/>
          </a:solidFill>
          <a:ln w="63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59486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2000"/>
          </a:p>
        </p:txBody>
      </p:sp>
      <p:sp>
        <p:nvSpPr>
          <p:cNvPr id="13" name="Text 11"/>
          <p:cNvSpPr txBox="1"/>
          <p:nvPr/>
        </p:nvSpPr>
        <p:spPr>
          <a:xfrm>
            <a:off x="4594860" y="34290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 surface matches</a:t>
            </a:r>
            <a:endParaRPr lang="en-US" sz="1700"/>
          </a:p>
        </p:txBody>
      </p:sp>
      <p:sp>
        <p:nvSpPr>
          <p:cNvPr id="14" name="Text 12"/>
          <p:cNvSpPr txBox="1"/>
          <p:nvPr/>
        </p:nvSpPr>
        <p:spPr>
          <a:xfrm>
            <a:off x="4594860" y="386791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wording, different meaning: “wholesale banking” is not “Transaction Banking”. Shared words can hide a real difference.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8092440" y="2514600"/>
            <a:ext cx="3520440" cy="2240280"/>
          </a:xfrm>
          <a:prstGeom prst="roundRect">
            <a:avLst>
              <a:gd name="adj" fmla="val 3265"/>
            </a:avLst>
          </a:prstGeom>
          <a:solidFill>
            <a:srgbClr val="F7F8FC"/>
          </a:solidFill>
          <a:ln w="9525">
            <a:solidFill>
              <a:srgbClr val="E5E8F2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366760" y="2788920"/>
            <a:ext cx="548640" cy="548640"/>
          </a:xfrm>
          <a:prstGeom prst="ellipse">
            <a:avLst/>
          </a:prstGeom>
          <a:solidFill>
            <a:srgbClr val="2FAE6B"/>
          </a:solidFill>
          <a:ln w="6350">
            <a:solidFill>
              <a:srgbClr val="2F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36676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</a:t>
            </a:r>
            <a:endParaRPr lang="en-US" sz="2000"/>
          </a:p>
        </p:txBody>
      </p:sp>
      <p:sp>
        <p:nvSpPr>
          <p:cNvPr id="18" name="Text 16"/>
          <p:cNvSpPr txBox="1"/>
          <p:nvPr/>
        </p:nvSpPr>
        <p:spPr>
          <a:xfrm>
            <a:off x="8366760" y="34290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context</a:t>
            </a:r>
            <a:endParaRPr lang="en-US" sz="1700"/>
          </a:p>
        </p:txBody>
      </p:sp>
      <p:sp>
        <p:nvSpPr>
          <p:cNvPr id="19" name="Text 17"/>
          <p:cNvSpPr txBox="1"/>
          <p:nvPr/>
        </p:nvSpPr>
        <p:spPr>
          <a:xfrm>
            <a:off x="8366760" y="386791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must be understood the way an analyst reads them (scope, metric, period and ask), not matched as strings.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548640" y="502920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41B4D"/>
          </a:solidFill>
          <a:ln w="9525">
            <a:solidFill>
              <a:srgbClr val="141B4D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68680" y="5193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/>
          </a:p>
        </p:txBody>
      </p:sp>
      <p:sp>
        <p:nvSpPr>
          <p:cNvPr id="22" name="Text 20"/>
          <p:cNvSpPr txBox="1"/>
          <p:nvPr/>
        </p:nvSpPr>
        <p:spPr>
          <a:xfrm>
            <a:off x="868680" y="546811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semantically equivalent financial questions across the evaluator log, despite arbitrary differences in wording, abbreviation and phrasing.</a:t>
            </a:r>
            <a:endParaRPr lang="en-US" sz="1500"/>
          </a:p>
        </p:txBody>
      </p:sp>
      <p:sp>
        <p:nvSpPr>
          <p:cNvPr id="23" name="Text 21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Framework</a:t>
            </a:r>
            <a:endParaRPr lang="en-US" sz="900"/>
          </a:p>
        </p:txBody>
      </p:sp>
      <p:sp>
        <p:nvSpPr>
          <p:cNvPr id="24" name="Text 22"/>
          <p:cNvSpPr txBox="1"/>
          <p:nvPr/>
        </p:nvSpPr>
        <p:spPr>
          <a:xfrm>
            <a:off x="11457432" y="6537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evaluator log we search against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14600" cy="164592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670+</a:t>
            </a:r>
            <a:endParaRPr lang="en-US" sz="4000"/>
          </a:p>
        </p:txBody>
      </p:sp>
      <p:sp>
        <p:nvSpPr>
          <p:cNvPr id="6" name="Text 4"/>
          <p:cNvSpPr txBox="1"/>
          <p:nvPr/>
        </p:nvSpPr>
        <p:spPr>
          <a:xfrm>
            <a:off x="822960" y="28072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3246120" y="1783080"/>
            <a:ext cx="2514600" cy="1645920"/>
          </a:xfrm>
          <a:prstGeom prst="roundRect">
            <a:avLst>
              <a:gd name="adj" fmla="val 4444"/>
            </a:avLst>
          </a:prstGeom>
          <a:solidFill>
            <a:srgbClr val="141B4D"/>
          </a:solidFill>
          <a:ln w="9525">
            <a:solidFill>
              <a:srgbClr val="141B4D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530600" y="20116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5B7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350+</a:t>
            </a:r>
            <a:endParaRPr lang="en-US" sz="4000"/>
          </a:p>
        </p:txBody>
      </p:sp>
      <p:sp>
        <p:nvSpPr>
          <p:cNvPr id="9" name="Text 7"/>
          <p:cNvSpPr txBox="1"/>
          <p:nvPr/>
        </p:nvSpPr>
        <p:spPr>
          <a:xfrm>
            <a:off x="3520440" y="28072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rows (questions)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2514600" cy="1645920"/>
          </a:xfrm>
          <a:prstGeom prst="roundRect">
            <a:avLst>
              <a:gd name="adj" fmla="val 4444"/>
            </a:avLst>
          </a:prstGeom>
          <a:solidFill>
            <a:srgbClr val="141B4D"/>
          </a:solidFill>
          <a:ln w="9525">
            <a:solidFill>
              <a:srgbClr val="141B4D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22960" y="38404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320+</a:t>
            </a:r>
            <a:endParaRPr lang="en-US" sz="4000"/>
          </a:p>
        </p:txBody>
      </p:sp>
      <p:sp>
        <p:nvSpPr>
          <p:cNvPr id="12" name="Text 10"/>
          <p:cNvSpPr txBox="1"/>
          <p:nvPr/>
        </p:nvSpPr>
        <p:spPr>
          <a:xfrm>
            <a:off x="822960" y="46360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rows (answers)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3246120" y="3611880"/>
            <a:ext cx="2514600" cy="164592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520440" y="38404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120+</a:t>
            </a:r>
            <a:endParaRPr lang="en-US" sz="4000"/>
          </a:p>
        </p:txBody>
      </p:sp>
      <p:sp>
        <p:nvSpPr>
          <p:cNvPr id="15" name="Text 13"/>
          <p:cNvSpPr txBox="1"/>
          <p:nvPr/>
        </p:nvSpPr>
        <p:spPr>
          <a:xfrm>
            <a:off x="3520440" y="46360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</a:t>
            </a:r>
            <a:endParaRPr lang="en-US" sz="1300"/>
          </a:p>
        </p:txBody>
      </p:sp>
      <p:sp>
        <p:nvSpPr>
          <p:cNvPr id="16" name="Shape 14"/>
          <p:cNvSpPr/>
          <p:nvPr/>
        </p:nvSpPr>
        <p:spPr>
          <a:xfrm>
            <a:off x="6080760" y="1783080"/>
            <a:ext cx="5532120" cy="3474720"/>
          </a:xfrm>
          <a:prstGeom prst="roundRect">
            <a:avLst>
              <a:gd name="adj" fmla="val 2105"/>
            </a:avLst>
          </a:prstGeom>
          <a:solidFill>
            <a:srgbClr val="F7F8FC"/>
          </a:solidFill>
          <a:ln w="9525">
            <a:solidFill>
              <a:srgbClr val="E5E8F2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355080" y="2011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RAW QUESTION LOOKS LIKE</a:t>
            </a:r>
            <a:endParaRPr lang="en-US" sz="1100"/>
          </a:p>
        </p:txBody>
      </p:sp>
      <p:sp>
        <p:nvSpPr>
          <p:cNvPr id="18" name="Text 16"/>
          <p:cNvSpPr txBox="1"/>
          <p:nvPr/>
        </p:nvSpPr>
        <p:spPr>
          <a:xfrm>
            <a:off x="6355080" y="233172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“Quick side-by-side on C/I ratio and equity return across </a:t>
            </a:r>
            <a:r>
              <a:rPr lang="en-US" sz="1300" i="1" dirty="0" err="1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</a:t>
            </a:r>
            <a:r>
              <a:rPr lang="en-US" sz="1300" i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banking, trade finance and Retail Bank for Q3_2025 - which division is most cost-efficient, and does it hold up on ROE?”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3520440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conversation holds about three unrelated questions (Q1–Q3)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questions are split across two consecutive rows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Abbreviations, typos and mixed date formats throughout</a:t>
            </a:r>
            <a:endParaRPr lang="en-US" sz="1300"/>
          </a:p>
        </p:txBody>
      </p:sp>
      <p:sp>
        <p:nvSpPr>
          <p:cNvPr id="20" name="Shape 18"/>
          <p:cNvSpPr/>
          <p:nvPr/>
        </p:nvSpPr>
        <p:spPr>
          <a:xfrm>
            <a:off x="548640" y="548640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7F8FC"/>
          </a:solidFill>
          <a:ln w="9525">
            <a:solidFill>
              <a:srgbClr val="E5E8F2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22960" y="5532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r>
              <a:rPr lang="en-US" sz="125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harmonization normalizes both the dataset and every new question identically before any comparison is made.</a:t>
            </a:r>
            <a:endParaRPr lang="en-US" sz="1250"/>
          </a:p>
        </p:txBody>
      </p:sp>
      <p:sp>
        <p:nvSpPr>
          <p:cNvPr id="22" name="Text 20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Framework</a:t>
            </a:r>
            <a:endParaRPr lang="en-US" sz="900"/>
          </a:p>
        </p:txBody>
      </p:sp>
      <p:sp>
        <p:nvSpPr>
          <p:cNvPr id="23" name="Text 21"/>
          <p:cNvSpPr txBox="1"/>
          <p:nvPr/>
        </p:nvSpPr>
        <p:spPr>
          <a:xfrm>
            <a:off x="11457432" y="6537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HARMONIZATION ENGINE</a:t>
            </a:r>
            <a:endParaRPr lang="en-US" sz="120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canonical vocabulary before any comparison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90195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5B7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484</a:t>
            </a:r>
            <a:endParaRPr lang="en-US" sz="3200"/>
          </a:p>
        </p:txBody>
      </p:sp>
      <p:sp>
        <p:nvSpPr>
          <p:cNvPr id="6" name="Text 4"/>
          <p:cNvSpPr txBox="1"/>
          <p:nvPr/>
        </p:nvSpPr>
        <p:spPr>
          <a:xfrm>
            <a:off x="2377440" y="1938528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entries</a:t>
            </a:r>
            <a:endParaRPr lang="en-US" sz="1300"/>
          </a:p>
        </p:txBody>
      </p:sp>
      <p:sp>
        <p:nvSpPr>
          <p:cNvPr id="7" name="Text 5"/>
          <p:cNvSpPr txBox="1"/>
          <p:nvPr/>
        </p:nvSpPr>
        <p:spPr>
          <a:xfrm>
            <a:off x="822960" y="25877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divisions, metrics, regions, regulators, time periods</a:t>
            </a:r>
            <a:endParaRPr lang="en-US" sz="105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141B4D"/>
          </a:solidFill>
          <a:ln w="9525">
            <a:solidFill>
              <a:srgbClr val="141B4D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572000" y="190195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5B7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4,296</a:t>
            </a:r>
            <a:endParaRPr lang="en-US" sz="3200"/>
          </a:p>
        </p:txBody>
      </p:sp>
      <p:sp>
        <p:nvSpPr>
          <p:cNvPr id="10" name="Text 8"/>
          <p:cNvSpPr txBox="1"/>
          <p:nvPr/>
        </p:nvSpPr>
        <p:spPr>
          <a:xfrm>
            <a:off x="6126480" y="1938528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patterns</a:t>
            </a:r>
            <a:endParaRPr lang="en-US" sz="1300"/>
          </a:p>
        </p:txBody>
      </p:sp>
      <p:sp>
        <p:nvSpPr>
          <p:cNvPr id="11" name="Text 9"/>
          <p:cNvSpPr txBox="1"/>
          <p:nvPr/>
        </p:nvSpPr>
        <p:spPr>
          <a:xfrm>
            <a:off x="4572000" y="25877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once, applied in milliseconds per search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321040" y="190195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5B7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4,298</a:t>
            </a:r>
            <a:endParaRPr lang="en-US" sz="3200"/>
          </a:p>
        </p:txBody>
      </p:sp>
      <p:sp>
        <p:nvSpPr>
          <p:cNvPr id="14" name="Text 12"/>
          <p:cNvSpPr txBox="1"/>
          <p:nvPr/>
        </p:nvSpPr>
        <p:spPr>
          <a:xfrm>
            <a:off x="9875520" y="1938528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Substitutions per run</a:t>
            </a:r>
            <a:endParaRPr lang="en-US" sz="1300"/>
          </a:p>
        </p:txBody>
      </p:sp>
      <p:sp>
        <p:nvSpPr>
          <p:cNvPr id="15" name="Text 13"/>
          <p:cNvSpPr txBox="1"/>
          <p:nvPr/>
        </p:nvSpPr>
        <p:spPr>
          <a:xfrm>
            <a:off x="8321040" y="25877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672 rows of the evaluator dataset</a:t>
            </a:r>
            <a:endParaRPr lang="en-US" sz="1050"/>
          </a:p>
        </p:txBody>
      </p:sp>
      <p:sp>
        <p:nvSpPr>
          <p:cNvPr id="16" name="Text 14"/>
          <p:cNvSpPr txBox="1"/>
          <p:nvPr/>
        </p:nvSpPr>
        <p:spPr>
          <a:xfrm>
            <a:off x="548640" y="3291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→ AFTER HARMONIZATION</a:t>
            </a:r>
            <a:endParaRPr lang="en-US" sz="110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39312"/>
          <a:ext cx="7040880" cy="237744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Raw input</a:t>
                      </a:r>
                      <a:endParaRPr lang="en-US" sz="130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After harmonization</a:t>
                      </a:r>
                      <a:endParaRPr lang="en-US" sz="130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4A55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C/I ratio for corp banking and trade finance Q3_2025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Cost-Income Ratio for Corporate Banking and Transaction Banking Q3 2025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4A55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NII sensitivity for GTB and PCG in H1 25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NII Sensitivity for Transaction Banking and Private Client Group in H1 2025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7863840" y="3291840"/>
            <a:ext cx="3749040" cy="2834640"/>
          </a:xfrm>
          <a:prstGeom prst="roundRect">
            <a:avLst>
              <a:gd name="adj" fmla="val 2581"/>
            </a:avLst>
          </a:prstGeom>
          <a:solidFill>
            <a:srgbClr val="F7F8FC"/>
          </a:solidFill>
          <a:ln w="9525">
            <a:solidFill>
              <a:srgbClr val="E5E8F2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8138160" y="3474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 MAPPINGS</a:t>
            </a:r>
            <a:endParaRPr lang="en-US" sz="1100"/>
          </a:p>
        </p:txBody>
      </p:sp>
      <p:sp>
        <p:nvSpPr>
          <p:cNvPr id="20" name="Text 17"/>
          <p:cNvSpPr txBox="1"/>
          <p:nvPr/>
        </p:nvSpPr>
        <p:spPr>
          <a:xfrm>
            <a:off x="8138160" y="3840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</a:t>
            </a:r>
            <a:r>
              <a:rPr lang="en-US" sz="1150" b="1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150" b="1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Equity</a:t>
            </a:r>
            <a:endParaRPr lang="en-US" sz="1150"/>
          </a:p>
        </p:txBody>
      </p:sp>
      <p:sp>
        <p:nvSpPr>
          <p:cNvPr id="21" name="Text 18"/>
          <p:cNvSpPr txBox="1"/>
          <p:nvPr/>
        </p:nvSpPr>
        <p:spPr>
          <a:xfrm>
            <a:off x="10835640" y="3840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324×</a:t>
            </a:r>
            <a:endParaRPr lang="en-US" sz="1100"/>
          </a:p>
        </p:txBody>
      </p:sp>
      <p:sp>
        <p:nvSpPr>
          <p:cNvPr id="22" name="Text 19"/>
          <p:cNvSpPr txBox="1"/>
          <p:nvPr/>
        </p:nvSpPr>
        <p:spPr>
          <a:xfrm>
            <a:off x="8138160" y="427024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</a:t>
            </a:r>
            <a:r>
              <a:rPr lang="en-US" sz="1150" b="1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150" b="1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Cost-Income Ratio</a:t>
            </a:r>
            <a:endParaRPr lang="en-US" sz="1150"/>
          </a:p>
        </p:txBody>
      </p:sp>
      <p:sp>
        <p:nvSpPr>
          <p:cNvPr id="23" name="Text 20"/>
          <p:cNvSpPr txBox="1"/>
          <p:nvPr/>
        </p:nvSpPr>
        <p:spPr>
          <a:xfrm>
            <a:off x="10835640" y="42702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264×</a:t>
            </a:r>
            <a:endParaRPr lang="en-US" sz="1100"/>
          </a:p>
        </p:txBody>
      </p:sp>
      <p:sp>
        <p:nvSpPr>
          <p:cNvPr id="24" name="Text 21"/>
          <p:cNvSpPr txBox="1"/>
          <p:nvPr/>
        </p:nvSpPr>
        <p:spPr>
          <a:xfrm>
            <a:off x="8138160" y="470001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return</a:t>
            </a:r>
            <a:r>
              <a:rPr lang="en-US" sz="1150" b="1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150" b="1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Equity</a:t>
            </a:r>
            <a:endParaRPr lang="en-US" sz="1150"/>
          </a:p>
        </p:txBody>
      </p:sp>
      <p:sp>
        <p:nvSpPr>
          <p:cNvPr id="25" name="Text 22"/>
          <p:cNvSpPr txBox="1"/>
          <p:nvPr/>
        </p:nvSpPr>
        <p:spPr>
          <a:xfrm>
            <a:off x="10835640" y="47000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53×</a:t>
            </a:r>
            <a:endParaRPr lang="en-US" sz="1100"/>
          </a:p>
        </p:txBody>
      </p:sp>
      <p:sp>
        <p:nvSpPr>
          <p:cNvPr id="26" name="Text 23"/>
          <p:cNvSpPr txBox="1"/>
          <p:nvPr/>
        </p:nvSpPr>
        <p:spPr>
          <a:xfrm>
            <a:off x="8138160" y="51297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</a:t>
            </a:r>
            <a:r>
              <a:rPr lang="en-US" sz="1150" b="1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150" b="1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Interest Margin</a:t>
            </a:r>
            <a:endParaRPr lang="en-US" sz="1150"/>
          </a:p>
        </p:txBody>
      </p:sp>
      <p:sp>
        <p:nvSpPr>
          <p:cNvPr id="27" name="Text 24"/>
          <p:cNvSpPr txBox="1"/>
          <p:nvPr/>
        </p:nvSpPr>
        <p:spPr>
          <a:xfrm>
            <a:off x="10835640" y="51297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50×</a:t>
            </a:r>
            <a:endParaRPr lang="en-US" sz="1100"/>
          </a:p>
        </p:txBody>
      </p:sp>
      <p:sp>
        <p:nvSpPr>
          <p:cNvPr id="28" name="Text 25"/>
          <p:cNvSpPr txBox="1"/>
          <p:nvPr/>
        </p:nvSpPr>
        <p:spPr>
          <a:xfrm>
            <a:off x="8138160" y="55595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txb</a:t>
            </a:r>
            <a:r>
              <a:rPr lang="en-US" sz="1150" b="1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150" b="1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Banking</a:t>
            </a:r>
            <a:endParaRPr lang="en-US" sz="1150"/>
          </a:p>
        </p:txBody>
      </p:sp>
      <p:sp>
        <p:nvSpPr>
          <p:cNvPr id="29" name="Text 26"/>
          <p:cNvSpPr txBox="1"/>
          <p:nvPr/>
        </p:nvSpPr>
        <p:spPr>
          <a:xfrm>
            <a:off x="10835640" y="55595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</a:t>
            </a:r>
            <a:endParaRPr lang="en-US" sz="1100"/>
          </a:p>
        </p:txBody>
      </p:sp>
      <p:sp>
        <p:nvSpPr>
          <p:cNvPr id="30" name="Text 2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Framework</a:t>
            </a:r>
            <a:endParaRPr lang="en-US" sz="900"/>
          </a:p>
        </p:txBody>
      </p:sp>
      <p:sp>
        <p:nvSpPr>
          <p:cNvPr id="31" name="Text 28"/>
          <p:cNvSpPr txBox="1"/>
          <p:nvPr/>
        </p:nvSpPr>
        <p:spPr>
          <a:xfrm>
            <a:off x="11457432" y="6537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>
                <a:ln>
                  <a:noFill/>
                </a:ln>
                <a:solidFill>
                  <a:srgbClr val="5B7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OUR IMPLEMENTATION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141B4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similarity pipeline, end to end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2029968" cy="2514600"/>
          </a:xfrm>
          <a:prstGeom prst="roundRect">
            <a:avLst>
              <a:gd name="adj" fmla="val 4054"/>
            </a:avLst>
          </a:prstGeom>
          <a:solidFill>
            <a:srgbClr val="141B4D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31520" y="267919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srgbClr val="5B7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31520" y="3227832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Historical log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31520" y="3794760"/>
            <a:ext cx="16642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questions and model responses  across multiple conversations kept as the searchable record of everything asked before.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2583180" y="358902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5B7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0" y="2514600"/>
            <a:ext cx="2029968" cy="2514600"/>
          </a:xfrm>
          <a:prstGeom prst="roundRect">
            <a:avLst>
              <a:gd name="adj" fmla="val 4054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2926080" y="267919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srgbClr val="5B7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2926080" y="3227832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Harmonize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2926080" y="3794760"/>
            <a:ext cx="16642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standardize division names, time formats, and terminology aliases into one canonical form.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777740" y="358902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5B7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937760" y="2514600"/>
            <a:ext cx="2029968" cy="2514600"/>
          </a:xfrm>
          <a:prstGeom prst="roundRect">
            <a:avLst>
              <a:gd name="adj" fmla="val 4054"/>
            </a:avLst>
          </a:prstGeom>
          <a:solidFill>
            <a:srgbClr val="141B4D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5120640" y="267919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srgbClr val="5B7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5120640" y="3227832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Instruct Gemini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5120640" y="3794760"/>
            <a:ext cx="16642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plain-text instructions file tells Gemini exactly how to judge similarity and score matches.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972300" y="358902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5B7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132320" y="2514600"/>
            <a:ext cx="2029968" cy="2514600"/>
          </a:xfrm>
          <a:prstGeom prst="roundRect">
            <a:avLst>
              <a:gd name="adj" fmla="val 4054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7315200" y="267919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srgbClr val="5B7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7315200" y="3227832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Ask &amp; compare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7315200" y="3794760"/>
            <a:ext cx="16642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user types a new question; it's sent to Gemini together with the harmonized dataset in one call.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9166860" y="358902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5B7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326880" y="2514600"/>
            <a:ext cx="2029968" cy="2514600"/>
          </a:xfrm>
          <a:prstGeom prst="roundRect">
            <a:avLst>
              <a:gd name="adj" fmla="val 4054"/>
            </a:avLst>
          </a:prstGeom>
          <a:solidFill>
            <a:srgbClr val="141B4D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9509760" y="267919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srgbClr val="5B7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9509760" y="3227832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Return matches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9509760" y="3794760"/>
            <a:ext cx="16642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Gemini returns every genuinely similar historical question, each with a score and its reasoning.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48640" y="530352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7F8FC"/>
          </a:solidFill>
          <a:ln w="12700">
            <a:solidFill>
              <a:srgbClr val="E5E8F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822960" y="542239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>
                <a:ln>
                  <a:noFill/>
                </a:ln>
                <a:solidFill>
                  <a:srgbClr val="141B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 </a:t>
            </a: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4A55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Gemini does all the interpretation. The pipeline never merges, cleans, or pre-judges meaning - it hands over the harmonized historical record plus the scoring instructions, and trusts Gemini's language understanding to find genuine matches.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Framework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11457432" y="6537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components fit together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141B4D"/>
          </a:solidFill>
          <a:ln w="9525">
            <a:solidFill>
              <a:srgbClr val="141B4D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85800" y="20299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Evaluator</a:t>
            </a:r>
            <a:endParaRPr lang="en-US" sz="1500"/>
          </a:p>
        </p:txBody>
      </p:sp>
      <p:sp>
        <p:nvSpPr>
          <p:cNvPr id="6" name="Text 4"/>
          <p:cNvSpPr txBox="1"/>
          <p:nvPr/>
        </p:nvSpPr>
        <p:spPr>
          <a:xfrm>
            <a:off x="685800" y="2468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· name-gated session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2980944" y="2400300"/>
            <a:ext cx="408737" cy="0"/>
          </a:xfrm>
          <a:prstGeom prst="line">
            <a:avLst/>
          </a:prstGeom>
          <a:noFill/>
          <a:ln w="22225">
            <a:solidFill>
              <a:srgbClr val="5B7F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44545" y="1828800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581705" y="20299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app.py</a:t>
            </a:r>
            <a:endParaRPr lang="en-US" sz="1500"/>
          </a:p>
        </p:txBody>
      </p:sp>
      <p:sp>
        <p:nvSpPr>
          <p:cNvPr id="10" name="Text 8"/>
          <p:cNvSpPr txBox="1"/>
          <p:nvPr/>
        </p:nvSpPr>
        <p:spPr>
          <a:xfrm>
            <a:off x="3581705" y="2468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+ Mantine UI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5876849" y="2400300"/>
            <a:ext cx="408737" cy="0"/>
          </a:xfrm>
          <a:prstGeom prst="line">
            <a:avLst/>
          </a:prstGeom>
          <a:noFill/>
          <a:ln w="22225">
            <a:solidFill>
              <a:srgbClr val="5B7F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340450" y="1828800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141B4D"/>
          </a:solidFill>
          <a:ln w="9525">
            <a:solidFill>
              <a:srgbClr val="141B4D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77610" y="20299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similarity_search.py</a:t>
            </a:r>
            <a:endParaRPr lang="en-US" sz="1500"/>
          </a:p>
        </p:txBody>
      </p:sp>
      <p:sp>
        <p:nvSpPr>
          <p:cNvPr id="14" name="Text 12"/>
          <p:cNvSpPr txBox="1"/>
          <p:nvPr/>
        </p:nvSpPr>
        <p:spPr>
          <a:xfrm>
            <a:off x="6477610" y="2468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8772754" y="2400300"/>
            <a:ext cx="408737" cy="0"/>
          </a:xfrm>
          <a:prstGeom prst="line">
            <a:avLst/>
          </a:prstGeom>
          <a:noFill/>
          <a:ln w="22225">
            <a:solidFill>
              <a:srgbClr val="5B7F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236354" y="1828800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373514" y="20299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gemini_client.py</a:t>
            </a:r>
            <a:endParaRPr lang="en-US" sz="1500"/>
          </a:p>
        </p:txBody>
      </p:sp>
      <p:sp>
        <p:nvSpPr>
          <p:cNvPr id="18" name="Text 16"/>
          <p:cNvSpPr txBox="1"/>
          <p:nvPr/>
        </p:nvSpPr>
        <p:spPr>
          <a:xfrm>
            <a:off x="9373514" y="2468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layer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3444545" y="370332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F7F8FC"/>
          </a:solidFill>
          <a:ln w="9525">
            <a:solidFill>
              <a:srgbClr val="E5E8F2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3581705" y="3867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usage_log.py</a:t>
            </a:r>
            <a:endParaRPr lang="en-US" sz="1400"/>
          </a:p>
        </p:txBody>
      </p:sp>
      <p:sp>
        <p:nvSpPr>
          <p:cNvPr id="21" name="Text 19"/>
          <p:cNvSpPr txBox="1"/>
          <p:nvPr/>
        </p:nvSpPr>
        <p:spPr>
          <a:xfrm>
            <a:off x="3627425" y="4251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audit trail of every search</a:t>
            </a:r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4633265" y="3026664"/>
            <a:ext cx="0" cy="621792"/>
          </a:xfrm>
          <a:prstGeom prst="line">
            <a:avLst/>
          </a:prstGeom>
          <a:noFill/>
          <a:ln w="22225">
            <a:solidFill>
              <a:srgbClr val="5B7F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340450" y="370332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F7F8FC"/>
          </a:solidFill>
          <a:ln w="9525">
            <a:solidFill>
              <a:srgbClr val="E5E8F2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477610" y="3867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harmonizer/</a:t>
            </a:r>
            <a:endParaRPr lang="en-US" sz="1400"/>
          </a:p>
        </p:txBody>
      </p:sp>
      <p:sp>
        <p:nvSpPr>
          <p:cNvPr id="25" name="Text 23"/>
          <p:cNvSpPr txBox="1"/>
          <p:nvPr/>
        </p:nvSpPr>
        <p:spPr>
          <a:xfrm>
            <a:off x="6523330" y="4251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functions + batch pipeline, dictionaries on disk</a:t>
            </a:r>
            <a:endParaRPr lang="en-US" sz="1050"/>
          </a:p>
        </p:txBody>
      </p:sp>
      <p:sp>
        <p:nvSpPr>
          <p:cNvPr id="26" name="Shape 24"/>
          <p:cNvSpPr/>
          <p:nvPr/>
        </p:nvSpPr>
        <p:spPr>
          <a:xfrm>
            <a:off x="7529170" y="3026664"/>
            <a:ext cx="0" cy="621792"/>
          </a:xfrm>
          <a:prstGeom prst="line">
            <a:avLst/>
          </a:prstGeom>
          <a:noFill/>
          <a:ln w="22225">
            <a:solidFill>
              <a:srgbClr val="5B7F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236354" y="370332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F7F8FC"/>
          </a:solidFill>
          <a:ln w="9525">
            <a:solidFill>
              <a:srgbClr val="E5E8F2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9373514" y="3867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OpenRouter API</a:t>
            </a:r>
            <a:endParaRPr lang="en-US" sz="1400"/>
          </a:p>
        </p:txBody>
      </p:sp>
      <p:sp>
        <p:nvSpPr>
          <p:cNvPr id="29" name="Text 27"/>
          <p:cNvSpPr txBox="1"/>
          <p:nvPr/>
        </p:nvSpPr>
        <p:spPr>
          <a:xfrm>
            <a:off x="9419234" y="4251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google/gemini-3.8-flash · JSON-schema reply</a:t>
            </a:r>
            <a:endParaRPr lang="en-US" sz="1050"/>
          </a:p>
        </p:txBody>
      </p:sp>
      <p:sp>
        <p:nvSpPr>
          <p:cNvPr id="30" name="Shape 28"/>
          <p:cNvSpPr/>
          <p:nvPr/>
        </p:nvSpPr>
        <p:spPr>
          <a:xfrm>
            <a:off x="10425074" y="3026664"/>
            <a:ext cx="0" cy="621792"/>
          </a:xfrm>
          <a:prstGeom prst="line">
            <a:avLst/>
          </a:prstGeom>
          <a:noFill/>
          <a:ln w="22225">
            <a:solidFill>
              <a:srgbClr val="5B7F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48640" y="370332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F7F8FC"/>
          </a:solidFill>
          <a:ln w="9525">
            <a:solidFill>
              <a:srgbClr val="E5E8F2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85800" y="3867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view</a:t>
            </a:r>
            <a:endParaRPr lang="en-US" sz="1400"/>
          </a:p>
        </p:txBody>
      </p:sp>
      <p:sp>
        <p:nvSpPr>
          <p:cNvPr id="33" name="Text 31"/>
          <p:cNvSpPr txBox="1"/>
          <p:nvPr/>
        </p:nvSpPr>
        <p:spPr>
          <a:xfrm>
            <a:off x="731520" y="4251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cards: score, plain-language label, “why it matches” reasons</a:t>
            </a:r>
            <a:endParaRPr lang="en-US" sz="1050"/>
          </a:p>
        </p:txBody>
      </p:sp>
      <p:sp>
        <p:nvSpPr>
          <p:cNvPr id="35" name="Shape 33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41B4D"/>
          </a:solidFill>
          <a:ln w="9525">
            <a:solidFill>
              <a:srgbClr val="141B4D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868680" y="539496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principle:  </a:t>
            </a:r>
            <a:r>
              <a:rPr lang="en-US" sz="15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does all the interpretation; the application harmonizes, validates and presents.</a:t>
            </a:r>
            <a:endParaRPr lang="en-US" sz="1500"/>
          </a:p>
        </p:txBody>
      </p:sp>
      <p:sp>
        <p:nvSpPr>
          <p:cNvPr id="37" name="Text 3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Framework</a:t>
            </a:r>
            <a:endParaRPr lang="en-US" sz="900"/>
          </a:p>
        </p:txBody>
      </p:sp>
      <p:sp>
        <p:nvSpPr>
          <p:cNvPr id="38" name="Text 36"/>
          <p:cNvSpPr txBox="1"/>
          <p:nvPr/>
        </p:nvSpPr>
        <p:spPr>
          <a:xfrm>
            <a:off x="11457432" y="6537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>
                <a:ln>
                  <a:noFill/>
                </a:ln>
                <a:solidFill>
                  <a:srgbClr val="5B7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GEMINI RECEIVES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Three inputs, one decision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337560" cy="3246120"/>
          </a:xfrm>
          <a:prstGeom prst="roundRect">
            <a:avLst>
              <a:gd name="adj" fmla="val 2817"/>
            </a:avLst>
          </a:prstGeom>
          <a:solidFill>
            <a:srgbClr val="1A2158"/>
          </a:solidFill>
          <a:ln w="12700">
            <a:solidFill>
              <a:srgbClr val="2B34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2624328"/>
            <a:ext cx="548640" cy="548640"/>
          </a:xfrm>
          <a:prstGeom prst="ellipse">
            <a:avLst/>
          </a:prstGeom>
          <a:solidFill>
            <a:srgbClr val="5B7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2624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🗂️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3319272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Historical dataset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22960" y="40690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>
                <a:ln>
                  <a:noFill/>
                </a:ln>
                <a:solidFill>
                  <a:srgbClr val="5B7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(harmonized)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22960" y="448056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past question, already standardized so wording differences from harmonization never get mistaken for real differences in meaning.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06240" y="2331720"/>
            <a:ext cx="3337560" cy="3246120"/>
          </a:xfrm>
          <a:prstGeom prst="roundRect">
            <a:avLst>
              <a:gd name="adj" fmla="val 2817"/>
            </a:avLst>
          </a:prstGeom>
          <a:solidFill>
            <a:srgbClr val="1A2158"/>
          </a:solidFill>
          <a:ln w="12700">
            <a:solidFill>
              <a:srgbClr val="2B34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480560" y="2624328"/>
            <a:ext cx="548640" cy="548640"/>
          </a:xfrm>
          <a:prstGeom prst="ellipse">
            <a:avLst/>
          </a:prstGeom>
          <a:solidFill>
            <a:srgbClr val="2FAE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480560" y="2624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📘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480560" y="3319272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Harmonization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dictionaries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4480560" y="40690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>
                <a:ln>
                  <a:noFill/>
                </a:ln>
                <a:solidFill>
                  <a:srgbClr val="2FAE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(applied upstream)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480560" y="448056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Division names, time formats, and financial terminology aliases are mapped to one canonical form before the dataset is ever searched.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863840" y="2331720"/>
            <a:ext cx="3337560" cy="3246120"/>
          </a:xfrm>
          <a:prstGeom prst="roundRect">
            <a:avLst>
              <a:gd name="adj" fmla="val 2817"/>
            </a:avLst>
          </a:prstGeom>
          <a:solidFill>
            <a:srgbClr val="1A2158"/>
          </a:solidFill>
          <a:ln w="12700">
            <a:solidFill>
              <a:srgbClr val="2B347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138160" y="2624328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138160" y="2624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📋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8138160" y="3319272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Instructions file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8138160" y="40690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>
                <a:ln>
                  <a:noFill/>
                </a:ln>
                <a:solidFill>
                  <a:srgbClr val="E8A33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(scoring rules)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8138160" y="448056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Plain-text rules defining what counts as a genuine match and how to score it - editable by the team without touching code.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3863340" y="36804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5A649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7520940" y="36804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5A649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Framework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11457432" y="6537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>
                <a:ln>
                  <a:noFill/>
                </a:ln>
                <a:solidFill>
                  <a:srgbClr val="5B7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INSTRUCTIONS FILE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141B4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What we specifically tell Gemini to do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029968" cy="3520440"/>
          </a:xfrm>
          <a:prstGeom prst="roundRect">
            <a:avLst>
              <a:gd name="adj" fmla="val 4505"/>
            </a:avLst>
          </a:prstGeom>
          <a:solidFill>
            <a:srgbClr val="F7F8FC"/>
          </a:solidFill>
          <a:ln w="12700">
            <a:solidFill>
              <a:srgbClr val="E5E8F2"/>
            </a:solidFill>
            <a:prstDash val="solid"/>
          </a:ln>
          <a:effectLst>
            <a:outerShdw blurRad="635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289304" y="22402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289304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🧩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13232" y="292608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141B4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Merge split questions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13232" y="3703320"/>
            <a:ext cx="17007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4A55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Two consecutive rows with the same conversation and question number are one question, not two - a short follow-up asked before the reply came back.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0" y="1965960"/>
            <a:ext cx="2029968" cy="3520440"/>
          </a:xfrm>
          <a:prstGeom prst="roundRect">
            <a:avLst>
              <a:gd name="adj" fmla="val 4505"/>
            </a:avLst>
          </a:prstGeom>
          <a:solidFill>
            <a:srgbClr val="F7F8FC"/>
          </a:solidFill>
          <a:ln w="12700">
            <a:solidFill>
              <a:srgbClr val="E5E8F2"/>
            </a:solidFill>
            <a:prstDash val="solid"/>
          </a:ln>
          <a:effectLst>
            <a:outerShdw blurRad="635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483864" y="22402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3483864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🔀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2907792" y="292608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141B4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Judge each question on its own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2907792" y="3703320"/>
            <a:ext cx="17007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4A55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 often holds 3 unrelated questions. Each is scored independently, a strong match on one never influences judgment on another.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937760" y="1965960"/>
            <a:ext cx="2029968" cy="3520440"/>
          </a:xfrm>
          <a:prstGeom prst="roundRect">
            <a:avLst>
              <a:gd name="adj" fmla="val 4505"/>
            </a:avLst>
          </a:prstGeom>
          <a:solidFill>
            <a:srgbClr val="F7F8FC"/>
          </a:solidFill>
          <a:ln w="12700">
            <a:solidFill>
              <a:srgbClr val="E5E8F2"/>
            </a:solidFill>
            <a:prstDash val="solid"/>
          </a:ln>
          <a:effectLst>
            <a:outerShdw blurRad="635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678424" y="22402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5678424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💼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5102352" y="292608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141B4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Think like an analyst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5102352" y="3703320"/>
            <a:ext cx="17007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4A55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Would the same analysis answer both? If answering one would leave the other meaningfully unanswered, it is not a match.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132320" y="1965960"/>
            <a:ext cx="2029968" cy="3520440"/>
          </a:xfrm>
          <a:prstGeom prst="roundRect">
            <a:avLst>
              <a:gd name="adj" fmla="val 4505"/>
            </a:avLst>
          </a:prstGeom>
          <a:solidFill>
            <a:srgbClr val="F7F8FC"/>
          </a:solidFill>
          <a:ln w="12700">
            <a:solidFill>
              <a:srgbClr val="E5E8F2"/>
            </a:solidFill>
            <a:prstDash val="solid"/>
          </a:ln>
          <a:effectLst>
            <a:outerShdw blurRad="635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872984" y="22402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7872984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📏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7296912" y="292608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141B4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Score the output, not the wording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7296912" y="3703320"/>
            <a:ext cx="17007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4A55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0.0-1.0 score per match. Gaps in metric, period or scope compound, and only matches of 0.50 or above are reported.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326880" y="1965960"/>
            <a:ext cx="2029968" cy="3520440"/>
          </a:xfrm>
          <a:prstGeom prst="roundRect">
            <a:avLst>
              <a:gd name="adj" fmla="val 4505"/>
            </a:avLst>
          </a:prstGeom>
          <a:solidFill>
            <a:srgbClr val="F7F8FC"/>
          </a:solidFill>
          <a:ln w="12700">
            <a:solidFill>
              <a:srgbClr val="E5E8F2"/>
            </a:solidFill>
            <a:prstDash val="solid"/>
          </a:ln>
          <a:effectLst>
            <a:outerShdw blurRad="635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0067544" y="22402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10067544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🔎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9491472" y="292608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141B4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Never stop at the first match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9491472" y="3703320"/>
            <a:ext cx="17007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4A55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built so a question can genuinely match </a:t>
            </a:r>
            <a:r>
              <a:rPr lang="en-US" sz="100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4A55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historical entries. Gemini must scan every row to the end, not stop once satisfied.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Framework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11457432" y="6537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LLM-AS-JUDGE?</a:t>
            </a:r>
            <a:endParaRPr lang="en-US" sz="120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Reasoning about meaning, not measuring distance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3337560"/>
          </a:xfrm>
          <a:prstGeom prst="roundRect">
            <a:avLst>
              <a:gd name="adj" fmla="val 2192"/>
            </a:avLst>
          </a:prstGeom>
          <a:solidFill>
            <a:srgbClr val="F7F8FC"/>
          </a:solidFill>
          <a:ln w="9525">
            <a:solidFill>
              <a:srgbClr val="E5E8F2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103120"/>
            <a:ext cx="548640" cy="548640"/>
          </a:xfrm>
          <a:prstGeom prst="ellipse">
            <a:avLst/>
          </a:prstGeom>
          <a:solidFill>
            <a:srgbClr val="6B7280"/>
          </a:solidFill>
          <a:ln w="63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/>
          </a:p>
        </p:txBody>
      </p:sp>
      <p:sp>
        <p:nvSpPr>
          <p:cNvPr id="7" name="Text 5"/>
          <p:cNvSpPr txBox="1"/>
          <p:nvPr/>
        </p:nvSpPr>
        <p:spPr>
          <a:xfrm>
            <a:off x="1600200" y="21031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 + cosine similarity</a:t>
            </a:r>
            <a:endParaRPr lang="en-US" sz="1800"/>
          </a:p>
        </p:txBody>
      </p:sp>
      <p:sp>
        <p:nvSpPr>
          <p:cNvPr id="8" name="Text 6"/>
          <p:cNvSpPr txBox="1"/>
          <p:nvPr/>
        </p:nvSpPr>
        <p:spPr>
          <a:xfrm>
            <a:off x="868680" y="2926080"/>
            <a:ext cx="4800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distance number that doesn't say which factor is off</a:t>
            </a:r>
            <a:endParaRPr lang="en-US" sz="140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tell “one quarter different” from genuinely equivalent</a:t>
            </a:r>
            <a:endParaRPr lang="en-US" sz="140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joint reasoning across scope + metric + period + ask</a:t>
            </a:r>
            <a:endParaRPr lang="en-US" sz="140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0.87 doesn't say whether the gap is division, metric or period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394960" cy="3337560"/>
          </a:xfrm>
          <a:prstGeom prst="roundRect">
            <a:avLst>
              <a:gd name="adj" fmla="val 2192"/>
            </a:avLst>
          </a:prstGeom>
          <a:solidFill>
            <a:srgbClr val="141B4D"/>
          </a:solidFill>
          <a:ln w="9525">
            <a:solidFill>
              <a:srgbClr val="141B4D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37960" y="2103120"/>
            <a:ext cx="548640" cy="548640"/>
          </a:xfrm>
          <a:prstGeom prst="ellipse">
            <a:avLst/>
          </a:prstGeom>
          <a:solidFill>
            <a:srgbClr val="2FAE6B"/>
          </a:solidFill>
          <a:ln w="6350">
            <a:solidFill>
              <a:srgbClr val="2F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53796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/>
          </a:p>
        </p:txBody>
      </p:sp>
      <p:sp>
        <p:nvSpPr>
          <p:cNvPr id="12" name="Text 10"/>
          <p:cNvSpPr txBox="1"/>
          <p:nvPr/>
        </p:nvSpPr>
        <p:spPr>
          <a:xfrm>
            <a:off x="7269480" y="21031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as senior financial analyst</a:t>
            </a:r>
            <a:endParaRPr lang="en-US" sz="1800"/>
          </a:p>
        </p:txBody>
      </p:sp>
      <p:sp>
        <p:nvSpPr>
          <p:cNvPr id="13" name="Text 11"/>
          <p:cNvSpPr txBox="1"/>
          <p:nvPr/>
        </p:nvSpPr>
        <p:spPr>
          <a:xfrm>
            <a:off x="6537960" y="2926080"/>
            <a:ext cx="4800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one question: “Would the same analysis answer both?”</a:t>
            </a:r>
            <a:endParaRPr lang="en-US" sz="140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about meaning, e.g. Cost of Risk ≠ ECL coverage</a:t>
            </a:r>
            <a:endParaRPr lang="en-US" sz="140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score with an auditable, plain-language justification</a:t>
            </a:r>
            <a:endParaRPr lang="en-US" sz="140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Plain-text instructions: tunable without code changes</a:t>
            </a:r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7F8FC"/>
          </a:solidFill>
          <a:ln w="9525">
            <a:solidFill>
              <a:srgbClr val="E5E8F2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22960" y="5394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Illustration:  </a:t>
            </a:r>
            <a:r>
              <a:rPr lang="en-US" sz="125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“Cost of Risk for IB in Q4 2025” vs “ECL coverage for IB in Q4 2025”. Same division, same period, near-identical text, so embeddings score them as close. An analyst sees two different credit-health analyses.</a:t>
            </a:r>
            <a:endParaRPr lang="en-US" sz="125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Framework</a:t>
            </a:r>
            <a:endParaRPr lang="en-US" sz="900"/>
          </a:p>
        </p:txBody>
      </p:sp>
      <p:sp>
        <p:nvSpPr>
          <p:cNvPr id="17" name="Text 15"/>
          <p:cNvSpPr txBox="1"/>
          <p:nvPr/>
        </p:nvSpPr>
        <p:spPr>
          <a:xfrm>
            <a:off x="11457432" y="6537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06240"/>
            <a:ext cx="4206240" cy="4206240"/>
          </a:xfrm>
          <a:prstGeom prst="ellipse">
            <a:avLst/>
          </a:prstGeom>
          <a:solidFill>
            <a:srgbClr val="1E2761">
              <a:alpha val="60000"/>
            </a:srgbClr>
          </a:solidFill>
          <a:ln w="12700">
            <a:solidFill>
              <a:srgbClr val="1E276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manual lookup to explainable, automated matching</a:t>
            </a:r>
            <a:endParaRPr lang="en-US" sz="300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Similarity Scoring Engine turns a manual, error-prone check into an automated one: every new evaluator question is compared against the full historical log, matched by meaning rather than wording, and returned with a human-readable justification.</a:t>
            </a:r>
            <a:endParaRPr lang="en-US" sz="170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1A2158"/>
          </a:solidFill>
          <a:ln w="12700">
            <a:solidFill>
              <a:srgbClr val="2B34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3383280"/>
            <a:ext cx="548640" cy="548640"/>
          </a:xfrm>
          <a:prstGeom prst="ellipse">
            <a:avLst/>
          </a:prstGeom>
          <a:solidFill>
            <a:srgbClr val="5B7FFF"/>
          </a:solidFill>
          <a:ln w="6350">
            <a:solidFill>
              <a:srgbClr val="5B7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000"/>
          </a:p>
        </p:txBody>
      </p:sp>
      <p:sp>
        <p:nvSpPr>
          <p:cNvPr id="9" name="Text 7"/>
          <p:cNvSpPr txBox="1"/>
          <p:nvPr/>
        </p:nvSpPr>
        <p:spPr>
          <a:xfrm>
            <a:off x="150876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Meaning, not wording</a:t>
            </a:r>
            <a:endParaRPr lang="en-US" sz="1600"/>
          </a:p>
        </p:txBody>
      </p:sp>
      <p:sp>
        <p:nvSpPr>
          <p:cNvPr id="10" name="Text 8"/>
          <p:cNvSpPr txBox="1"/>
          <p:nvPr/>
        </p:nvSpPr>
        <p:spPr>
          <a:xfrm>
            <a:off x="822960" y="41148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Harmonization + analyst-style judgement catch duplicates that text search misses.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4297680" y="310896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1A2158"/>
          </a:solidFill>
          <a:ln w="12700">
            <a:solidFill>
              <a:srgbClr val="2B34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3383280"/>
            <a:ext cx="548640" cy="548640"/>
          </a:xfrm>
          <a:prstGeom prst="ellipse">
            <a:avLst/>
          </a:prstGeom>
          <a:solidFill>
            <a:srgbClr val="2FAE6B"/>
          </a:solidFill>
          <a:ln w="6350">
            <a:solidFill>
              <a:srgbClr val="2F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57200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000"/>
          </a:p>
        </p:txBody>
      </p:sp>
      <p:sp>
        <p:nvSpPr>
          <p:cNvPr id="14" name="Text 12"/>
          <p:cNvSpPr txBox="1"/>
          <p:nvPr/>
        </p:nvSpPr>
        <p:spPr>
          <a:xfrm>
            <a:off x="525780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</a:t>
            </a:r>
            <a:endParaRPr lang="en-US" sz="1600"/>
          </a:p>
        </p:txBody>
      </p:sp>
      <p:sp>
        <p:nvSpPr>
          <p:cNvPr id="15" name="Text 13"/>
          <p:cNvSpPr txBox="1"/>
          <p:nvPr/>
        </p:nvSpPr>
        <p:spPr>
          <a:xfrm>
            <a:off x="4572000" y="41148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match comes with a score and a reason an evaluator can verify.</a:t>
            </a:r>
            <a:endParaRPr lang="en-US" sz="1300"/>
          </a:p>
        </p:txBody>
      </p:sp>
      <p:sp>
        <p:nvSpPr>
          <p:cNvPr id="16" name="Shape 14"/>
          <p:cNvSpPr/>
          <p:nvPr/>
        </p:nvSpPr>
        <p:spPr>
          <a:xfrm>
            <a:off x="8046720" y="310896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1A2158"/>
          </a:solidFill>
          <a:ln w="12700">
            <a:solidFill>
              <a:srgbClr val="2B34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21040" y="3383280"/>
            <a:ext cx="548640" cy="548640"/>
          </a:xfrm>
          <a:prstGeom prst="ellipse">
            <a:avLst/>
          </a:prstGeom>
          <a:solidFill>
            <a:srgbClr val="E8A33D"/>
          </a:solidFill>
          <a:ln w="63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32104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</a:t>
            </a:r>
            <a:endParaRPr lang="en-US" sz="2000"/>
          </a:p>
        </p:txBody>
      </p:sp>
      <p:sp>
        <p:nvSpPr>
          <p:cNvPr id="19" name="Text 17"/>
          <p:cNvSpPr txBox="1"/>
          <p:nvPr/>
        </p:nvSpPr>
        <p:spPr>
          <a:xfrm>
            <a:off x="900684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Seconds, not minutes</a:t>
            </a:r>
            <a:endParaRPr lang="en-US" sz="1600"/>
          </a:p>
        </p:txBody>
      </p:sp>
      <p:sp>
        <p:nvSpPr>
          <p:cNvPr id="20" name="Text 18"/>
          <p:cNvSpPr txBox="1"/>
          <p:nvPr/>
        </p:nvSpPr>
        <p:spPr>
          <a:xfrm>
            <a:off x="8321040" y="41148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 searches the whole log instead of scrolling a spreadsheet by eye.</a:t>
            </a:r>
            <a:endParaRPr lang="en-US" sz="1300"/>
          </a:p>
        </p:txBody>
      </p:sp>
      <p:sp>
        <p:nvSpPr>
          <p:cNvPr id="21" name="Shape 19"/>
          <p:cNvSpPr/>
          <p:nvPr/>
        </p:nvSpPr>
        <p:spPr>
          <a:xfrm>
            <a:off x="548640" y="52578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5B7FFF"/>
          </a:solidFill>
          <a:ln w="6350">
            <a:solidFill>
              <a:srgbClr val="5B7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822960" y="5257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finds every earlier question that genuinely asks the same thing, and explains why.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D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Framework</a:t>
            </a:r>
            <a:endParaRPr lang="en-US" sz="900"/>
          </a:p>
        </p:txBody>
      </p:sp>
      <p:sp>
        <p:nvSpPr>
          <p:cNvPr id="24" name="Text 22"/>
          <p:cNvSpPr txBox="1"/>
          <p:nvPr/>
        </p:nvSpPr>
        <p:spPr>
          <a:xfrm>
            <a:off x="11457432" y="6537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D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1E2761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question similarity to full evaluation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5B7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/>
          </a:p>
        </p:txBody>
      </p:sp>
      <p:sp>
        <p:nvSpPr>
          <p:cNvPr id="7" name="Text 5"/>
          <p:cNvSpPr txBox="1"/>
          <p:nvPr/>
        </p:nvSpPr>
        <p:spPr>
          <a:xfrm>
            <a:off x="1234440" y="22128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 output-consistency scoring</a:t>
            </a:r>
            <a:endParaRPr lang="en-US" sz="1800"/>
          </a:p>
        </p:txBody>
      </p:sp>
      <p:sp>
        <p:nvSpPr>
          <p:cNvPr id="8" name="Text 6"/>
          <p:cNvSpPr txBox="1"/>
          <p:nvPr/>
        </p:nvSpPr>
        <p:spPr>
          <a:xfrm>
            <a:off x="1234440" y="256946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numerical-alignment and context-consistency checks against the drafted instructions, on top of the working input layer.</a:t>
            </a:r>
            <a:endParaRPr lang="en-US" sz="125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5B7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4864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/>
          </a:p>
        </p:txBody>
      </p:sp>
      <p:sp>
        <p:nvSpPr>
          <p:cNvPr id="11" name="Text 9"/>
          <p:cNvSpPr txBox="1"/>
          <p:nvPr/>
        </p:nvSpPr>
        <p:spPr>
          <a:xfrm>
            <a:off x="1234440" y="33101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scoring thresholds</a:t>
            </a:r>
            <a:endParaRPr lang="en-US" sz="1800"/>
          </a:p>
        </p:txBody>
      </p:sp>
      <p:sp>
        <p:nvSpPr>
          <p:cNvPr id="12" name="Text 10"/>
          <p:cNvSpPr txBox="1"/>
          <p:nvPr/>
        </p:nvSpPr>
        <p:spPr>
          <a:xfrm>
            <a:off x="1234440" y="366674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match-strength bands and the 0.50 reporting floor against a larger, hand-labelled set of duplicate pairs.</a:t>
            </a:r>
            <a:endParaRPr lang="en-US" sz="125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5B7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4864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/>
          </a:p>
        </p:txBody>
      </p:sp>
      <p:sp>
        <p:nvSpPr>
          <p:cNvPr id="15" name="Text 13"/>
          <p:cNvSpPr txBox="1"/>
          <p:nvPr/>
        </p:nvSpPr>
        <p:spPr>
          <a:xfrm>
            <a:off x="1234440" y="44074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 up historical tracking</a:t>
            </a:r>
            <a:endParaRPr lang="en-US" sz="1800"/>
          </a:p>
        </p:txBody>
      </p:sp>
      <p:sp>
        <p:nvSpPr>
          <p:cNvPr id="16" name="Text 14"/>
          <p:cNvSpPr txBox="1"/>
          <p:nvPr/>
        </p:nvSpPr>
        <p:spPr>
          <a:xfrm>
            <a:off x="1234440" y="476402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evaluation results over time to support trend analysis and model-version comparisons.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548640" y="6080760"/>
            <a:ext cx="11064240" cy="0"/>
          </a:xfrm>
          <a:prstGeom prst="line">
            <a:avLst/>
          </a:prstGeom>
          <a:noFill/>
          <a:ln w="12700">
            <a:solidFill>
              <a:srgbClr val="263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4864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Framework </a:t>
            </a:r>
            <a:endParaRPr lang="en-US" sz="1200"/>
          </a:p>
        </p:txBody>
      </p:sp>
      <p:sp>
        <p:nvSpPr>
          <p:cNvPr id="19" name="Text 17"/>
          <p:cNvSpPr txBox="1"/>
          <p:nvPr/>
        </p:nvSpPr>
        <p:spPr>
          <a:xfrm>
            <a:off x="11457432" y="6263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2697280" y="2918365"/>
            <a:ext cx="6805997" cy="1013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1"/>
              </a:lnSpc>
            </a:pPr>
            <a:r>
              <a:rPr lang="en-US" sz="6896" b="1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1726</Words>
  <Application>Microsoft Office PowerPoint</Application>
  <PresentationFormat>Widescreen</PresentationFormat>
  <Paragraphs>280</Paragraphs>
  <Slides>17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Abadi</vt:lpstr>
      <vt:lpstr>Agrandir Wide Bold</vt:lpstr>
      <vt:lpstr>Aptos</vt:lpstr>
      <vt:lpstr>Arial</vt:lpstr>
      <vt:lpstr>Calibri</vt:lpstr>
      <vt:lpstr>Cambria</vt:lpstr>
      <vt:lpstr>Cambria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SANIYA SHAIKH</cp:lastModifiedBy>
  <cp:revision>3</cp:revision>
  <dcterms:created xsi:type="dcterms:W3CDTF">2026-09-18T11:48:28Z</dcterms:created>
  <dcterms:modified xsi:type="dcterms:W3CDTF">2026-10-02T06:22:39Z</dcterms:modified>
</cp:coreProperties>
</file>